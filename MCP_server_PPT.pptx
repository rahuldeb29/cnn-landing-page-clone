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4" d="100"/>
          <a:sy n="214" d="100"/>
        </p:scale>
        <p:origin x="918" y="1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1945"/>
          </a:xfrm>
          <a:custGeom>
            <a:avLst/>
            <a:gdLst/>
            <a:ahLst/>
            <a:cxnLst/>
            <a:rect l="l" t="t" r="r" b="b"/>
            <a:pathLst>
              <a:path w="5760085" h="321945">
                <a:moveTo>
                  <a:pt x="5759996" y="0"/>
                </a:moveTo>
                <a:lnTo>
                  <a:pt x="0" y="0"/>
                </a:lnTo>
                <a:lnTo>
                  <a:pt x="0" y="321500"/>
                </a:lnTo>
                <a:lnTo>
                  <a:pt x="5759996" y="3215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B79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45564"/>
            <a:ext cx="32099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6288" y="543926"/>
            <a:ext cx="2922270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52554" y="3115250"/>
            <a:ext cx="240664" cy="119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0002" y="140855"/>
            <a:ext cx="539953" cy="53995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24521" y="632686"/>
            <a:ext cx="35115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Techno</a:t>
            </a:r>
            <a:r>
              <a:rPr b="1" spc="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College</a:t>
            </a:r>
            <a:r>
              <a:rPr b="1" spc="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1" spc="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Engineering</a:t>
            </a:r>
            <a:r>
              <a:rPr b="1" spc="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000000"/>
                </a:solidFill>
                <a:latin typeface="Arial"/>
                <a:cs typeface="Arial"/>
              </a:rPr>
              <a:t>Agartala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3236" y="814889"/>
            <a:ext cx="4053840" cy="212090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1000" b="1" dirty="0">
                <a:latin typeface="Arial"/>
                <a:cs typeface="Arial"/>
              </a:rPr>
              <a:t>Seminar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on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Contemporary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Engineering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Topics-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II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(SE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CS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806)</a:t>
            </a:r>
            <a:endParaRPr sz="1000">
              <a:latin typeface="Arial"/>
              <a:cs typeface="Arial"/>
            </a:endParaRPr>
          </a:p>
          <a:p>
            <a:pPr marL="666115" marR="664845" algn="ctr">
              <a:lnSpc>
                <a:spcPct val="112900"/>
              </a:lnSpc>
            </a:pPr>
            <a:r>
              <a:rPr sz="1000" i="1" dirty="0">
                <a:latin typeface="Arial"/>
                <a:cs typeface="Arial"/>
              </a:rPr>
              <a:t>Department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of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Computer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Science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&amp;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Engineering </a:t>
            </a:r>
            <a:r>
              <a:rPr sz="1000" i="1" dirty="0">
                <a:latin typeface="Arial"/>
                <a:cs typeface="Arial"/>
              </a:rPr>
              <a:t>Academic</a:t>
            </a:r>
            <a:r>
              <a:rPr sz="1000" i="1" spc="-60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Year: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2025–</a:t>
            </a:r>
            <a:r>
              <a:rPr sz="1000" i="1" spc="-20" dirty="0">
                <a:latin typeface="Arial"/>
                <a:cs typeface="Arial"/>
              </a:rPr>
              <a:t>2026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sz="1000" b="1" dirty="0">
                <a:latin typeface="Arial"/>
                <a:cs typeface="Arial"/>
              </a:rPr>
              <a:t>A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SEMINAR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PRESENTATION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ON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1400" b="1" dirty="0">
                <a:latin typeface="Arial"/>
                <a:cs typeface="Arial"/>
              </a:rPr>
              <a:t>MCP</a:t>
            </a:r>
            <a:r>
              <a:rPr sz="1400" b="1" spc="8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Server</a:t>
            </a:r>
            <a:r>
              <a:rPr sz="1400" b="1" spc="8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+</a:t>
            </a:r>
            <a:r>
              <a:rPr sz="1400" b="1" spc="8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AI:</a:t>
            </a:r>
            <a:r>
              <a:rPr sz="1400" b="1" spc="8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Future</a:t>
            </a:r>
            <a:r>
              <a:rPr sz="1400" b="1" spc="8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8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Intelligent</a:t>
            </a:r>
            <a:r>
              <a:rPr sz="1400" b="1" spc="8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1000" b="1" dirty="0">
                <a:latin typeface="Arial"/>
                <a:cs typeface="Arial"/>
              </a:rPr>
              <a:t>Presented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By: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100" b="1" dirty="0">
                <a:latin typeface="Arial"/>
                <a:cs typeface="Arial"/>
              </a:rPr>
              <a:t>Rahul</a:t>
            </a:r>
            <a:r>
              <a:rPr sz="1100" b="1" spc="-7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Deb</a:t>
            </a:r>
            <a:endParaRPr sz="1100">
              <a:latin typeface="Arial"/>
              <a:cs typeface="Arial"/>
            </a:endParaRPr>
          </a:p>
          <a:p>
            <a:pPr marL="1340485" marR="1332865" algn="ctr">
              <a:lnSpc>
                <a:spcPct val="112900"/>
              </a:lnSpc>
              <a:spcBef>
                <a:spcPts val="80"/>
              </a:spcBef>
            </a:pPr>
            <a:r>
              <a:rPr sz="1000" dirty="0">
                <a:latin typeface="Arial MT"/>
                <a:cs typeface="Arial MT"/>
              </a:rPr>
              <a:t>TU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Roll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No: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226704133 </a:t>
            </a:r>
            <a:r>
              <a:rPr sz="1000" dirty="0">
                <a:latin typeface="Arial MT"/>
                <a:cs typeface="Arial MT"/>
              </a:rPr>
              <a:t>Student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ID:</a:t>
            </a:r>
            <a:r>
              <a:rPr sz="1000" spc="-10" dirty="0">
                <a:latin typeface="Arial MT"/>
                <a:cs typeface="Arial MT"/>
              </a:rPr>
              <a:t> 2230401060 </a:t>
            </a:r>
            <a:r>
              <a:rPr sz="1000" dirty="0">
                <a:latin typeface="Arial MT"/>
                <a:cs typeface="Arial MT"/>
              </a:rPr>
              <a:t>Semester: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8th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ts val="1055"/>
              </a:lnSpc>
            </a:pPr>
            <a:r>
              <a:rPr sz="1000" b="1" dirty="0">
                <a:latin typeface="Arial"/>
                <a:cs typeface="Arial"/>
              </a:rPr>
              <a:t>Department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of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Computer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Science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and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Engineering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6" name="object 6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Introduction</a:t>
            </a:r>
            <a:r>
              <a:rPr spc="85" dirty="0"/>
              <a:t> </a:t>
            </a:r>
            <a:r>
              <a:rPr dirty="0"/>
              <a:t>to</a:t>
            </a:r>
            <a:r>
              <a:rPr spc="90" dirty="0"/>
              <a:t> </a:t>
            </a:r>
            <a:r>
              <a:rPr spc="-25" dirty="0"/>
              <a:t>MCP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743266"/>
            <a:ext cx="3841750" cy="1092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5260" indent="-137160">
              <a:lnSpc>
                <a:spcPct val="100000"/>
              </a:lnSpc>
              <a:spcBef>
                <a:spcPts val="9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Problem: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Fragmented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integrations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require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APIs.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104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Solution: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MCP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introduces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unified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client-</a:t>
            </a:r>
            <a:r>
              <a:rPr sz="1100" dirty="0">
                <a:latin typeface="Arial MT"/>
                <a:cs typeface="Arial MT"/>
              </a:rPr>
              <a:t>server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protocol.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104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Benefit: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Enables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dynamic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tool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interaction.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104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Impact: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MCP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can</a:t>
            </a:r>
            <a:r>
              <a:rPr sz="1100" b="1" spc="-35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become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the</a:t>
            </a:r>
            <a:r>
              <a:rPr sz="1100" b="1" spc="-35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HTTP</a:t>
            </a:r>
            <a:r>
              <a:rPr sz="1100" b="1" spc="-35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of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AI</a:t>
            </a:r>
            <a:r>
              <a:rPr sz="1100" b="1" spc="-35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B7978"/>
                </a:solidFill>
                <a:latin typeface="Arial"/>
                <a:cs typeface="Arial"/>
              </a:rPr>
              <a:t>integrations.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8285" y="2219830"/>
            <a:ext cx="408305" cy="219710"/>
          </a:xfrm>
          <a:custGeom>
            <a:avLst/>
            <a:gdLst/>
            <a:ahLst/>
            <a:cxnLst/>
            <a:rect l="l" t="t" r="r" b="b"/>
            <a:pathLst>
              <a:path w="408305" h="219710">
                <a:moveTo>
                  <a:pt x="357182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68848"/>
                </a:lnTo>
                <a:lnTo>
                  <a:pt x="3977" y="188549"/>
                </a:lnTo>
                <a:lnTo>
                  <a:pt x="14823" y="204636"/>
                </a:lnTo>
                <a:lnTo>
                  <a:pt x="30910" y="215482"/>
                </a:lnTo>
                <a:lnTo>
                  <a:pt x="50610" y="219459"/>
                </a:lnTo>
                <a:lnTo>
                  <a:pt x="357182" y="219459"/>
                </a:lnTo>
                <a:lnTo>
                  <a:pt x="376882" y="215482"/>
                </a:lnTo>
                <a:lnTo>
                  <a:pt x="392969" y="204636"/>
                </a:lnTo>
                <a:lnTo>
                  <a:pt x="403816" y="188549"/>
                </a:lnTo>
                <a:lnTo>
                  <a:pt x="407793" y="168848"/>
                </a:lnTo>
                <a:lnTo>
                  <a:pt x="407793" y="50610"/>
                </a:lnTo>
                <a:lnTo>
                  <a:pt x="403816" y="30910"/>
                </a:lnTo>
                <a:lnTo>
                  <a:pt x="392969" y="14823"/>
                </a:lnTo>
                <a:lnTo>
                  <a:pt x="376882" y="3977"/>
                </a:lnTo>
                <a:lnTo>
                  <a:pt x="357182" y="0"/>
                </a:lnTo>
                <a:close/>
              </a:path>
            </a:pathLst>
          </a:custGeom>
          <a:ln w="5060">
            <a:solidFill>
              <a:srgbClr val="8B92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48842" y="2234455"/>
            <a:ext cx="3067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Arial"/>
                <a:cs typeface="Arial"/>
              </a:rPr>
              <a:t>User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48607" y="2218460"/>
            <a:ext cx="258445" cy="222250"/>
            <a:chOff x="1648607" y="2218460"/>
            <a:chExt cx="258445" cy="2222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1147" y="2221000"/>
              <a:ext cx="253052" cy="2171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51147" y="2221000"/>
              <a:ext cx="253365" cy="217170"/>
            </a:xfrm>
            <a:custGeom>
              <a:avLst/>
              <a:gdLst/>
              <a:ahLst/>
              <a:cxnLst/>
              <a:rect l="l" t="t" r="r" b="b"/>
              <a:pathLst>
                <a:path w="253364" h="217169">
                  <a:moveTo>
                    <a:pt x="20244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6509"/>
                  </a:lnTo>
                  <a:lnTo>
                    <a:pt x="3977" y="186209"/>
                  </a:lnTo>
                  <a:lnTo>
                    <a:pt x="14823" y="202296"/>
                  </a:lnTo>
                  <a:lnTo>
                    <a:pt x="30910" y="213142"/>
                  </a:lnTo>
                  <a:lnTo>
                    <a:pt x="50610" y="217119"/>
                  </a:lnTo>
                  <a:lnTo>
                    <a:pt x="202441" y="217119"/>
                  </a:lnTo>
                  <a:lnTo>
                    <a:pt x="222141" y="213142"/>
                  </a:lnTo>
                  <a:lnTo>
                    <a:pt x="238228" y="202296"/>
                  </a:lnTo>
                  <a:lnTo>
                    <a:pt x="249075" y="186209"/>
                  </a:lnTo>
                  <a:lnTo>
                    <a:pt x="253052" y="166509"/>
                  </a:lnTo>
                  <a:lnTo>
                    <a:pt x="253052" y="50610"/>
                  </a:lnTo>
                  <a:lnTo>
                    <a:pt x="249075" y="30910"/>
                  </a:lnTo>
                  <a:lnTo>
                    <a:pt x="238228" y="14823"/>
                  </a:lnTo>
                  <a:lnTo>
                    <a:pt x="222141" y="3977"/>
                  </a:lnTo>
                  <a:lnTo>
                    <a:pt x="202441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01698" y="2235624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AI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46727" y="2215709"/>
            <a:ext cx="412750" cy="227965"/>
            <a:chOff x="2446727" y="2215709"/>
            <a:chExt cx="412750" cy="227965"/>
          </a:xfrm>
        </p:grpSpPr>
        <p:sp>
          <p:nvSpPr>
            <p:cNvPr id="11" name="object 11"/>
            <p:cNvSpPr/>
            <p:nvPr/>
          </p:nvSpPr>
          <p:spPr>
            <a:xfrm>
              <a:off x="2449267" y="2218249"/>
              <a:ext cx="407670" cy="222885"/>
            </a:xfrm>
            <a:custGeom>
              <a:avLst/>
              <a:gdLst/>
              <a:ahLst/>
              <a:cxnLst/>
              <a:rect l="l" t="t" r="r" b="b"/>
              <a:pathLst>
                <a:path w="407669" h="222885">
                  <a:moveTo>
                    <a:pt x="35705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357057" y="222623"/>
                  </a:lnTo>
                  <a:lnTo>
                    <a:pt x="376757" y="218646"/>
                  </a:lnTo>
                  <a:lnTo>
                    <a:pt x="392845" y="207799"/>
                  </a:lnTo>
                  <a:lnTo>
                    <a:pt x="403691" y="191712"/>
                  </a:lnTo>
                  <a:lnTo>
                    <a:pt x="407668" y="172012"/>
                  </a:lnTo>
                  <a:lnTo>
                    <a:pt x="407668" y="50610"/>
                  </a:lnTo>
                  <a:lnTo>
                    <a:pt x="403691" y="30910"/>
                  </a:lnTo>
                  <a:lnTo>
                    <a:pt x="392845" y="14823"/>
                  </a:lnTo>
                  <a:lnTo>
                    <a:pt x="376757" y="3977"/>
                  </a:lnTo>
                  <a:lnTo>
                    <a:pt x="357057" y="0"/>
                  </a:lnTo>
                  <a:close/>
                </a:path>
              </a:pathLst>
            </a:custGeom>
            <a:solidFill>
              <a:srgbClr val="BFD7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49267" y="2218249"/>
              <a:ext cx="407670" cy="222885"/>
            </a:xfrm>
            <a:custGeom>
              <a:avLst/>
              <a:gdLst/>
              <a:ahLst/>
              <a:cxnLst/>
              <a:rect l="l" t="t" r="r" b="b"/>
              <a:pathLst>
                <a:path w="407669" h="222885">
                  <a:moveTo>
                    <a:pt x="35705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357057" y="222623"/>
                  </a:lnTo>
                  <a:lnTo>
                    <a:pt x="376757" y="218646"/>
                  </a:lnTo>
                  <a:lnTo>
                    <a:pt x="392845" y="207799"/>
                  </a:lnTo>
                  <a:lnTo>
                    <a:pt x="403691" y="191712"/>
                  </a:lnTo>
                  <a:lnTo>
                    <a:pt x="407668" y="172012"/>
                  </a:lnTo>
                  <a:lnTo>
                    <a:pt x="407668" y="50610"/>
                  </a:lnTo>
                  <a:lnTo>
                    <a:pt x="403691" y="30910"/>
                  </a:lnTo>
                  <a:lnTo>
                    <a:pt x="392845" y="14823"/>
                  </a:lnTo>
                  <a:lnTo>
                    <a:pt x="376757" y="3977"/>
                  </a:lnTo>
                  <a:lnTo>
                    <a:pt x="357057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99804" y="2236043"/>
            <a:ext cx="3067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MCP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99463" y="2217828"/>
            <a:ext cx="388620" cy="223520"/>
            <a:chOff x="3399463" y="2217828"/>
            <a:chExt cx="388620" cy="223520"/>
          </a:xfrm>
        </p:grpSpPr>
        <p:sp>
          <p:nvSpPr>
            <p:cNvPr id="15" name="object 15"/>
            <p:cNvSpPr/>
            <p:nvPr/>
          </p:nvSpPr>
          <p:spPr>
            <a:xfrm>
              <a:off x="3402003" y="2220368"/>
              <a:ext cx="383540" cy="218440"/>
            </a:xfrm>
            <a:custGeom>
              <a:avLst/>
              <a:gdLst/>
              <a:ahLst/>
              <a:cxnLst/>
              <a:rect l="l" t="t" r="r" b="b"/>
              <a:pathLst>
                <a:path w="383539" h="218439">
                  <a:moveTo>
                    <a:pt x="33289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7773"/>
                  </a:lnTo>
                  <a:lnTo>
                    <a:pt x="3977" y="187473"/>
                  </a:lnTo>
                  <a:lnTo>
                    <a:pt x="14823" y="203560"/>
                  </a:lnTo>
                  <a:lnTo>
                    <a:pt x="30910" y="214407"/>
                  </a:lnTo>
                  <a:lnTo>
                    <a:pt x="50610" y="218384"/>
                  </a:lnTo>
                  <a:lnTo>
                    <a:pt x="332891" y="218384"/>
                  </a:lnTo>
                  <a:lnTo>
                    <a:pt x="352591" y="214407"/>
                  </a:lnTo>
                  <a:lnTo>
                    <a:pt x="368679" y="203560"/>
                  </a:lnTo>
                  <a:lnTo>
                    <a:pt x="379525" y="187473"/>
                  </a:lnTo>
                  <a:lnTo>
                    <a:pt x="383502" y="167773"/>
                  </a:lnTo>
                  <a:lnTo>
                    <a:pt x="383502" y="50610"/>
                  </a:lnTo>
                  <a:lnTo>
                    <a:pt x="379525" y="30910"/>
                  </a:lnTo>
                  <a:lnTo>
                    <a:pt x="368679" y="14823"/>
                  </a:lnTo>
                  <a:lnTo>
                    <a:pt x="352591" y="3977"/>
                  </a:lnTo>
                  <a:lnTo>
                    <a:pt x="332891" y="0"/>
                  </a:lnTo>
                  <a:close/>
                </a:path>
              </a:pathLst>
            </a:custGeom>
            <a:solidFill>
              <a:srgbClr val="D0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02003" y="2220368"/>
              <a:ext cx="383540" cy="218440"/>
            </a:xfrm>
            <a:custGeom>
              <a:avLst/>
              <a:gdLst/>
              <a:ahLst/>
              <a:cxnLst/>
              <a:rect l="l" t="t" r="r" b="b"/>
              <a:pathLst>
                <a:path w="383539" h="218439">
                  <a:moveTo>
                    <a:pt x="33289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7773"/>
                  </a:lnTo>
                  <a:lnTo>
                    <a:pt x="3977" y="187473"/>
                  </a:lnTo>
                  <a:lnTo>
                    <a:pt x="14823" y="203560"/>
                  </a:lnTo>
                  <a:lnTo>
                    <a:pt x="30910" y="214407"/>
                  </a:lnTo>
                  <a:lnTo>
                    <a:pt x="50610" y="218384"/>
                  </a:lnTo>
                  <a:lnTo>
                    <a:pt x="332891" y="218384"/>
                  </a:lnTo>
                  <a:lnTo>
                    <a:pt x="352591" y="214407"/>
                  </a:lnTo>
                  <a:lnTo>
                    <a:pt x="368679" y="203560"/>
                  </a:lnTo>
                  <a:lnTo>
                    <a:pt x="379525" y="187473"/>
                  </a:lnTo>
                  <a:lnTo>
                    <a:pt x="383502" y="167773"/>
                  </a:lnTo>
                  <a:lnTo>
                    <a:pt x="383502" y="50610"/>
                  </a:lnTo>
                  <a:lnTo>
                    <a:pt x="379525" y="30910"/>
                  </a:lnTo>
                  <a:lnTo>
                    <a:pt x="368679" y="14823"/>
                  </a:lnTo>
                  <a:lnTo>
                    <a:pt x="352591" y="3977"/>
                  </a:lnTo>
                  <a:lnTo>
                    <a:pt x="332891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52533" y="2235001"/>
            <a:ext cx="2825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Arial"/>
                <a:cs typeface="Arial"/>
              </a:rPr>
              <a:t>Tool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30574" y="2207684"/>
            <a:ext cx="731520" cy="243840"/>
          </a:xfrm>
          <a:custGeom>
            <a:avLst/>
            <a:gdLst/>
            <a:ahLst/>
            <a:cxnLst/>
            <a:rect l="l" t="t" r="r" b="b"/>
            <a:pathLst>
              <a:path w="731520" h="243839">
                <a:moveTo>
                  <a:pt x="680585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93142"/>
                </a:lnTo>
                <a:lnTo>
                  <a:pt x="3977" y="212842"/>
                </a:lnTo>
                <a:lnTo>
                  <a:pt x="14823" y="228929"/>
                </a:lnTo>
                <a:lnTo>
                  <a:pt x="30910" y="239775"/>
                </a:lnTo>
                <a:lnTo>
                  <a:pt x="50610" y="243752"/>
                </a:lnTo>
                <a:lnTo>
                  <a:pt x="680585" y="243752"/>
                </a:lnTo>
                <a:lnTo>
                  <a:pt x="700285" y="239775"/>
                </a:lnTo>
                <a:lnTo>
                  <a:pt x="716372" y="228929"/>
                </a:lnTo>
                <a:lnTo>
                  <a:pt x="727219" y="212842"/>
                </a:lnTo>
                <a:lnTo>
                  <a:pt x="731196" y="193142"/>
                </a:lnTo>
                <a:lnTo>
                  <a:pt x="731196" y="50610"/>
                </a:lnTo>
                <a:lnTo>
                  <a:pt x="727219" y="30910"/>
                </a:lnTo>
                <a:lnTo>
                  <a:pt x="716372" y="14823"/>
                </a:lnTo>
                <a:lnTo>
                  <a:pt x="700285" y="3977"/>
                </a:lnTo>
                <a:lnTo>
                  <a:pt x="680585" y="0"/>
                </a:lnTo>
                <a:close/>
              </a:path>
            </a:pathLst>
          </a:custGeom>
          <a:ln w="5060">
            <a:solidFill>
              <a:srgbClr val="8B92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381093" y="2222314"/>
            <a:ext cx="6305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Response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08609" y="2303244"/>
            <a:ext cx="3219450" cy="52705"/>
            <a:chOff x="1108609" y="2303244"/>
            <a:chExt cx="3219450" cy="52705"/>
          </a:xfrm>
        </p:grpSpPr>
        <p:sp>
          <p:nvSpPr>
            <p:cNvPr id="21" name="object 21"/>
            <p:cNvSpPr/>
            <p:nvPr/>
          </p:nvSpPr>
          <p:spPr>
            <a:xfrm>
              <a:off x="1108609" y="2329561"/>
              <a:ext cx="507365" cy="0"/>
            </a:xfrm>
            <a:custGeom>
              <a:avLst/>
              <a:gdLst/>
              <a:ahLst/>
              <a:cxnLst/>
              <a:rect l="l" t="t" r="r" b="b"/>
              <a:pathLst>
                <a:path w="507365">
                  <a:moveTo>
                    <a:pt x="0" y="0"/>
                  </a:moveTo>
                  <a:lnTo>
                    <a:pt x="507110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95982" y="230324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06730" y="2329561"/>
              <a:ext cx="507365" cy="0"/>
            </a:xfrm>
            <a:custGeom>
              <a:avLst/>
              <a:gdLst/>
              <a:ahLst/>
              <a:cxnLst/>
              <a:rect l="l" t="t" r="r" b="b"/>
              <a:pathLst>
                <a:path w="507364">
                  <a:moveTo>
                    <a:pt x="0" y="0"/>
                  </a:moveTo>
                  <a:lnTo>
                    <a:pt x="507110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94102" y="230324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59466" y="2329561"/>
              <a:ext cx="507365" cy="0"/>
            </a:xfrm>
            <a:custGeom>
              <a:avLst/>
              <a:gdLst/>
              <a:ahLst/>
              <a:cxnLst/>
              <a:rect l="l" t="t" r="r" b="b"/>
              <a:pathLst>
                <a:path w="507364">
                  <a:moveTo>
                    <a:pt x="0" y="0"/>
                  </a:moveTo>
                  <a:lnTo>
                    <a:pt x="507110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46839" y="230324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88037" y="2329561"/>
              <a:ext cx="507365" cy="0"/>
            </a:xfrm>
            <a:custGeom>
              <a:avLst/>
              <a:gdLst/>
              <a:ahLst/>
              <a:cxnLst/>
              <a:rect l="l" t="t" r="r" b="b"/>
              <a:pathLst>
                <a:path w="507364">
                  <a:moveTo>
                    <a:pt x="0" y="0"/>
                  </a:moveTo>
                  <a:lnTo>
                    <a:pt x="507110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75409" y="230324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30" name="object 30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2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MCP</a:t>
            </a:r>
            <a:r>
              <a:rPr spc="6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476336"/>
            <a:ext cx="262636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5260" indent="-137160">
              <a:lnSpc>
                <a:spcPct val="100000"/>
              </a:lnSpc>
              <a:spcBef>
                <a:spcPts val="434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Client: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initiates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requests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4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Server: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MCP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communication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spc="-10" dirty="0">
                <a:latin typeface="Arial"/>
                <a:cs typeface="Arial"/>
              </a:rPr>
              <a:t>Tools: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Executable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external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actions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Resources: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context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3807" y="1772187"/>
            <a:ext cx="905510" cy="227965"/>
            <a:chOff x="843807" y="1772187"/>
            <a:chExt cx="905510" cy="227965"/>
          </a:xfrm>
        </p:grpSpPr>
        <p:sp>
          <p:nvSpPr>
            <p:cNvPr id="5" name="object 5"/>
            <p:cNvSpPr/>
            <p:nvPr/>
          </p:nvSpPr>
          <p:spPr>
            <a:xfrm>
              <a:off x="846347" y="1774727"/>
              <a:ext cx="900430" cy="222885"/>
            </a:xfrm>
            <a:custGeom>
              <a:avLst/>
              <a:gdLst/>
              <a:ahLst/>
              <a:cxnLst/>
              <a:rect l="l" t="t" r="r" b="b"/>
              <a:pathLst>
                <a:path w="900430" h="222885">
                  <a:moveTo>
                    <a:pt x="849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849400" y="222623"/>
                  </a:lnTo>
                  <a:lnTo>
                    <a:pt x="869100" y="218646"/>
                  </a:lnTo>
                  <a:lnTo>
                    <a:pt x="885187" y="207799"/>
                  </a:lnTo>
                  <a:lnTo>
                    <a:pt x="896033" y="191712"/>
                  </a:lnTo>
                  <a:lnTo>
                    <a:pt x="900010" y="172012"/>
                  </a:lnTo>
                  <a:lnTo>
                    <a:pt x="900010" y="50610"/>
                  </a:lnTo>
                  <a:lnTo>
                    <a:pt x="896033" y="30910"/>
                  </a:lnTo>
                  <a:lnTo>
                    <a:pt x="885187" y="14823"/>
                  </a:lnTo>
                  <a:lnTo>
                    <a:pt x="869100" y="3977"/>
                  </a:lnTo>
                  <a:lnTo>
                    <a:pt x="849400" y="0"/>
                  </a:lnTo>
                  <a:close/>
                </a:path>
              </a:pathLst>
            </a:custGeom>
            <a:solidFill>
              <a:srgbClr val="C3E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6347" y="1774727"/>
              <a:ext cx="900430" cy="222885"/>
            </a:xfrm>
            <a:custGeom>
              <a:avLst/>
              <a:gdLst/>
              <a:ahLst/>
              <a:cxnLst/>
              <a:rect l="l" t="t" r="r" b="b"/>
              <a:pathLst>
                <a:path w="900430" h="222885">
                  <a:moveTo>
                    <a:pt x="849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849400" y="222623"/>
                  </a:lnTo>
                  <a:lnTo>
                    <a:pt x="869100" y="218646"/>
                  </a:lnTo>
                  <a:lnTo>
                    <a:pt x="885187" y="207799"/>
                  </a:lnTo>
                  <a:lnTo>
                    <a:pt x="896033" y="191712"/>
                  </a:lnTo>
                  <a:lnTo>
                    <a:pt x="900010" y="172012"/>
                  </a:lnTo>
                  <a:lnTo>
                    <a:pt x="900010" y="50610"/>
                  </a:lnTo>
                  <a:lnTo>
                    <a:pt x="896033" y="30910"/>
                  </a:lnTo>
                  <a:lnTo>
                    <a:pt x="885187" y="14823"/>
                  </a:lnTo>
                  <a:lnTo>
                    <a:pt x="869100" y="3977"/>
                  </a:lnTo>
                  <a:lnTo>
                    <a:pt x="849400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27061" y="1792521"/>
            <a:ext cx="539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AI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Client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08895" y="1772187"/>
            <a:ext cx="1085215" cy="227965"/>
            <a:chOff x="3008895" y="1772187"/>
            <a:chExt cx="1085215" cy="227965"/>
          </a:xfrm>
        </p:grpSpPr>
        <p:sp>
          <p:nvSpPr>
            <p:cNvPr id="9" name="object 9"/>
            <p:cNvSpPr/>
            <p:nvPr/>
          </p:nvSpPr>
          <p:spPr>
            <a:xfrm>
              <a:off x="3011435" y="1774727"/>
              <a:ext cx="1080135" cy="222885"/>
            </a:xfrm>
            <a:custGeom>
              <a:avLst/>
              <a:gdLst/>
              <a:ahLst/>
              <a:cxnLst/>
              <a:rect l="l" t="t" r="r" b="b"/>
              <a:pathLst>
                <a:path w="1080135" h="222885">
                  <a:moveTo>
                    <a:pt x="102940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1029402" y="222623"/>
                  </a:lnTo>
                  <a:lnTo>
                    <a:pt x="1049103" y="218646"/>
                  </a:lnTo>
                  <a:lnTo>
                    <a:pt x="1065190" y="207799"/>
                  </a:lnTo>
                  <a:lnTo>
                    <a:pt x="1076036" y="191712"/>
                  </a:lnTo>
                  <a:lnTo>
                    <a:pt x="1080013" y="172012"/>
                  </a:lnTo>
                  <a:lnTo>
                    <a:pt x="1080013" y="50610"/>
                  </a:lnTo>
                  <a:lnTo>
                    <a:pt x="1076036" y="30910"/>
                  </a:lnTo>
                  <a:lnTo>
                    <a:pt x="1065190" y="14823"/>
                  </a:lnTo>
                  <a:lnTo>
                    <a:pt x="1049103" y="3977"/>
                  </a:lnTo>
                  <a:lnTo>
                    <a:pt x="1029402" y="0"/>
                  </a:lnTo>
                  <a:close/>
                </a:path>
              </a:pathLst>
            </a:custGeom>
            <a:solidFill>
              <a:srgbClr val="BFD7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1435" y="1774727"/>
              <a:ext cx="1080135" cy="222885"/>
            </a:xfrm>
            <a:custGeom>
              <a:avLst/>
              <a:gdLst/>
              <a:ahLst/>
              <a:cxnLst/>
              <a:rect l="l" t="t" r="r" b="b"/>
              <a:pathLst>
                <a:path w="1080135" h="222885">
                  <a:moveTo>
                    <a:pt x="102940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1029402" y="222623"/>
                  </a:lnTo>
                  <a:lnTo>
                    <a:pt x="1049103" y="218646"/>
                  </a:lnTo>
                  <a:lnTo>
                    <a:pt x="1065190" y="207799"/>
                  </a:lnTo>
                  <a:lnTo>
                    <a:pt x="1076036" y="191712"/>
                  </a:lnTo>
                  <a:lnTo>
                    <a:pt x="1080013" y="172012"/>
                  </a:lnTo>
                  <a:lnTo>
                    <a:pt x="1080013" y="50610"/>
                  </a:lnTo>
                  <a:lnTo>
                    <a:pt x="1076036" y="30910"/>
                  </a:lnTo>
                  <a:lnTo>
                    <a:pt x="1065190" y="14823"/>
                  </a:lnTo>
                  <a:lnTo>
                    <a:pt x="1049103" y="3977"/>
                  </a:lnTo>
                  <a:lnTo>
                    <a:pt x="1029402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82988" y="1792521"/>
            <a:ext cx="737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MCP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Server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69981" y="2539878"/>
            <a:ext cx="459105" cy="223520"/>
            <a:chOff x="2369981" y="2539878"/>
            <a:chExt cx="459105" cy="223520"/>
          </a:xfrm>
        </p:grpSpPr>
        <p:sp>
          <p:nvSpPr>
            <p:cNvPr id="13" name="object 13"/>
            <p:cNvSpPr/>
            <p:nvPr/>
          </p:nvSpPr>
          <p:spPr>
            <a:xfrm>
              <a:off x="2372521" y="2542418"/>
              <a:ext cx="454025" cy="218440"/>
            </a:xfrm>
            <a:custGeom>
              <a:avLst/>
              <a:gdLst/>
              <a:ahLst/>
              <a:cxnLst/>
              <a:rect l="l" t="t" r="r" b="b"/>
              <a:pathLst>
                <a:path w="454025" h="218439">
                  <a:moveTo>
                    <a:pt x="40324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7773"/>
                  </a:lnTo>
                  <a:lnTo>
                    <a:pt x="3977" y="187473"/>
                  </a:lnTo>
                  <a:lnTo>
                    <a:pt x="14823" y="203560"/>
                  </a:lnTo>
                  <a:lnTo>
                    <a:pt x="30910" y="214407"/>
                  </a:lnTo>
                  <a:lnTo>
                    <a:pt x="50610" y="218384"/>
                  </a:lnTo>
                  <a:lnTo>
                    <a:pt x="403240" y="218384"/>
                  </a:lnTo>
                  <a:lnTo>
                    <a:pt x="422940" y="214407"/>
                  </a:lnTo>
                  <a:lnTo>
                    <a:pt x="439027" y="203560"/>
                  </a:lnTo>
                  <a:lnTo>
                    <a:pt x="449873" y="187473"/>
                  </a:lnTo>
                  <a:lnTo>
                    <a:pt x="453850" y="167773"/>
                  </a:lnTo>
                  <a:lnTo>
                    <a:pt x="453850" y="50610"/>
                  </a:lnTo>
                  <a:lnTo>
                    <a:pt x="449873" y="30910"/>
                  </a:lnTo>
                  <a:lnTo>
                    <a:pt x="439027" y="14823"/>
                  </a:lnTo>
                  <a:lnTo>
                    <a:pt x="422940" y="3977"/>
                  </a:lnTo>
                  <a:lnTo>
                    <a:pt x="403240" y="0"/>
                  </a:lnTo>
                  <a:close/>
                </a:path>
              </a:pathLst>
            </a:custGeom>
            <a:solidFill>
              <a:srgbClr val="DEF2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72521" y="2542418"/>
              <a:ext cx="454025" cy="218440"/>
            </a:xfrm>
            <a:custGeom>
              <a:avLst/>
              <a:gdLst/>
              <a:ahLst/>
              <a:cxnLst/>
              <a:rect l="l" t="t" r="r" b="b"/>
              <a:pathLst>
                <a:path w="454025" h="218439">
                  <a:moveTo>
                    <a:pt x="40324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7773"/>
                  </a:lnTo>
                  <a:lnTo>
                    <a:pt x="3977" y="187473"/>
                  </a:lnTo>
                  <a:lnTo>
                    <a:pt x="14823" y="203560"/>
                  </a:lnTo>
                  <a:lnTo>
                    <a:pt x="30910" y="214407"/>
                  </a:lnTo>
                  <a:lnTo>
                    <a:pt x="50610" y="218384"/>
                  </a:lnTo>
                  <a:lnTo>
                    <a:pt x="403240" y="218384"/>
                  </a:lnTo>
                  <a:lnTo>
                    <a:pt x="422940" y="214407"/>
                  </a:lnTo>
                  <a:lnTo>
                    <a:pt x="439027" y="203560"/>
                  </a:lnTo>
                  <a:lnTo>
                    <a:pt x="449873" y="187473"/>
                  </a:lnTo>
                  <a:lnTo>
                    <a:pt x="453850" y="167773"/>
                  </a:lnTo>
                  <a:lnTo>
                    <a:pt x="453850" y="50610"/>
                  </a:lnTo>
                  <a:lnTo>
                    <a:pt x="449873" y="30910"/>
                  </a:lnTo>
                  <a:lnTo>
                    <a:pt x="439027" y="14823"/>
                  </a:lnTo>
                  <a:lnTo>
                    <a:pt x="422940" y="3977"/>
                  </a:lnTo>
                  <a:lnTo>
                    <a:pt x="403240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23071" y="2557035"/>
            <a:ext cx="353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Tools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63439" y="2539878"/>
            <a:ext cx="776605" cy="223520"/>
            <a:chOff x="3163439" y="2539878"/>
            <a:chExt cx="776605" cy="223520"/>
          </a:xfrm>
        </p:grpSpPr>
        <p:sp>
          <p:nvSpPr>
            <p:cNvPr id="17" name="object 17"/>
            <p:cNvSpPr/>
            <p:nvPr/>
          </p:nvSpPr>
          <p:spPr>
            <a:xfrm>
              <a:off x="3165979" y="2542418"/>
              <a:ext cx="771525" cy="218440"/>
            </a:xfrm>
            <a:custGeom>
              <a:avLst/>
              <a:gdLst/>
              <a:ahLst/>
              <a:cxnLst/>
              <a:rect l="l" t="t" r="r" b="b"/>
              <a:pathLst>
                <a:path w="771525" h="218439">
                  <a:moveTo>
                    <a:pt x="72031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7773"/>
                  </a:lnTo>
                  <a:lnTo>
                    <a:pt x="3977" y="187473"/>
                  </a:lnTo>
                  <a:lnTo>
                    <a:pt x="14823" y="203560"/>
                  </a:lnTo>
                  <a:lnTo>
                    <a:pt x="30910" y="214407"/>
                  </a:lnTo>
                  <a:lnTo>
                    <a:pt x="50610" y="218384"/>
                  </a:lnTo>
                  <a:lnTo>
                    <a:pt x="720313" y="218384"/>
                  </a:lnTo>
                  <a:lnTo>
                    <a:pt x="740013" y="214407"/>
                  </a:lnTo>
                  <a:lnTo>
                    <a:pt x="756101" y="203560"/>
                  </a:lnTo>
                  <a:lnTo>
                    <a:pt x="766947" y="187473"/>
                  </a:lnTo>
                  <a:lnTo>
                    <a:pt x="770924" y="167773"/>
                  </a:lnTo>
                  <a:lnTo>
                    <a:pt x="770924" y="50610"/>
                  </a:lnTo>
                  <a:lnTo>
                    <a:pt x="766947" y="30910"/>
                  </a:lnTo>
                  <a:lnTo>
                    <a:pt x="756101" y="14823"/>
                  </a:lnTo>
                  <a:lnTo>
                    <a:pt x="740013" y="3977"/>
                  </a:lnTo>
                  <a:lnTo>
                    <a:pt x="720313" y="0"/>
                  </a:lnTo>
                  <a:close/>
                </a:path>
              </a:pathLst>
            </a:custGeom>
            <a:solidFill>
              <a:srgbClr val="DEF2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65979" y="2542418"/>
              <a:ext cx="771525" cy="218440"/>
            </a:xfrm>
            <a:custGeom>
              <a:avLst/>
              <a:gdLst/>
              <a:ahLst/>
              <a:cxnLst/>
              <a:rect l="l" t="t" r="r" b="b"/>
              <a:pathLst>
                <a:path w="771525" h="218439">
                  <a:moveTo>
                    <a:pt x="72031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7773"/>
                  </a:lnTo>
                  <a:lnTo>
                    <a:pt x="3977" y="187473"/>
                  </a:lnTo>
                  <a:lnTo>
                    <a:pt x="14823" y="203560"/>
                  </a:lnTo>
                  <a:lnTo>
                    <a:pt x="30910" y="214407"/>
                  </a:lnTo>
                  <a:lnTo>
                    <a:pt x="50610" y="218384"/>
                  </a:lnTo>
                  <a:lnTo>
                    <a:pt x="720313" y="218384"/>
                  </a:lnTo>
                  <a:lnTo>
                    <a:pt x="740013" y="214407"/>
                  </a:lnTo>
                  <a:lnTo>
                    <a:pt x="756101" y="203560"/>
                  </a:lnTo>
                  <a:lnTo>
                    <a:pt x="766947" y="187473"/>
                  </a:lnTo>
                  <a:lnTo>
                    <a:pt x="770924" y="167773"/>
                  </a:lnTo>
                  <a:lnTo>
                    <a:pt x="770924" y="50610"/>
                  </a:lnTo>
                  <a:lnTo>
                    <a:pt x="766947" y="30910"/>
                  </a:lnTo>
                  <a:lnTo>
                    <a:pt x="756101" y="14823"/>
                  </a:lnTo>
                  <a:lnTo>
                    <a:pt x="740013" y="3977"/>
                  </a:lnTo>
                  <a:lnTo>
                    <a:pt x="720313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16516" y="2557035"/>
            <a:ext cx="669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Resources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273972" y="2539878"/>
            <a:ext cx="642620" cy="248920"/>
            <a:chOff x="4273972" y="2539878"/>
            <a:chExt cx="642620" cy="248920"/>
          </a:xfrm>
        </p:grpSpPr>
        <p:sp>
          <p:nvSpPr>
            <p:cNvPr id="21" name="object 21"/>
            <p:cNvSpPr/>
            <p:nvPr/>
          </p:nvSpPr>
          <p:spPr>
            <a:xfrm>
              <a:off x="4276512" y="2542418"/>
              <a:ext cx="637540" cy="243840"/>
            </a:xfrm>
            <a:custGeom>
              <a:avLst/>
              <a:gdLst/>
              <a:ahLst/>
              <a:cxnLst/>
              <a:rect l="l" t="t" r="r" b="b"/>
              <a:pathLst>
                <a:path w="637539" h="243839">
                  <a:moveTo>
                    <a:pt x="58657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93142"/>
                  </a:lnTo>
                  <a:lnTo>
                    <a:pt x="3977" y="212842"/>
                  </a:lnTo>
                  <a:lnTo>
                    <a:pt x="14823" y="228929"/>
                  </a:lnTo>
                  <a:lnTo>
                    <a:pt x="30910" y="239775"/>
                  </a:lnTo>
                  <a:lnTo>
                    <a:pt x="50610" y="243753"/>
                  </a:lnTo>
                  <a:lnTo>
                    <a:pt x="586575" y="243753"/>
                  </a:lnTo>
                  <a:lnTo>
                    <a:pt x="606275" y="239775"/>
                  </a:lnTo>
                  <a:lnTo>
                    <a:pt x="622362" y="228929"/>
                  </a:lnTo>
                  <a:lnTo>
                    <a:pt x="633208" y="212842"/>
                  </a:lnTo>
                  <a:lnTo>
                    <a:pt x="637185" y="193142"/>
                  </a:lnTo>
                  <a:lnTo>
                    <a:pt x="637185" y="50610"/>
                  </a:lnTo>
                  <a:lnTo>
                    <a:pt x="633208" y="30910"/>
                  </a:lnTo>
                  <a:lnTo>
                    <a:pt x="622362" y="14823"/>
                  </a:lnTo>
                  <a:lnTo>
                    <a:pt x="606275" y="3977"/>
                  </a:lnTo>
                  <a:lnTo>
                    <a:pt x="586575" y="0"/>
                  </a:lnTo>
                  <a:close/>
                </a:path>
              </a:pathLst>
            </a:custGeom>
            <a:solidFill>
              <a:srgbClr val="DEF2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76512" y="2542418"/>
              <a:ext cx="637540" cy="243840"/>
            </a:xfrm>
            <a:custGeom>
              <a:avLst/>
              <a:gdLst/>
              <a:ahLst/>
              <a:cxnLst/>
              <a:rect l="l" t="t" r="r" b="b"/>
              <a:pathLst>
                <a:path w="637539" h="243839">
                  <a:moveTo>
                    <a:pt x="58657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93142"/>
                  </a:lnTo>
                  <a:lnTo>
                    <a:pt x="3977" y="212842"/>
                  </a:lnTo>
                  <a:lnTo>
                    <a:pt x="14823" y="228929"/>
                  </a:lnTo>
                  <a:lnTo>
                    <a:pt x="30910" y="239775"/>
                  </a:lnTo>
                  <a:lnTo>
                    <a:pt x="50610" y="243753"/>
                  </a:lnTo>
                  <a:lnTo>
                    <a:pt x="586575" y="243753"/>
                  </a:lnTo>
                  <a:lnTo>
                    <a:pt x="606275" y="239775"/>
                  </a:lnTo>
                  <a:lnTo>
                    <a:pt x="622362" y="228929"/>
                  </a:lnTo>
                  <a:lnTo>
                    <a:pt x="633208" y="212842"/>
                  </a:lnTo>
                  <a:lnTo>
                    <a:pt x="637185" y="193142"/>
                  </a:lnTo>
                  <a:lnTo>
                    <a:pt x="637185" y="50610"/>
                  </a:lnTo>
                  <a:lnTo>
                    <a:pt x="633208" y="30910"/>
                  </a:lnTo>
                  <a:lnTo>
                    <a:pt x="622362" y="14823"/>
                  </a:lnTo>
                  <a:lnTo>
                    <a:pt x="606275" y="3977"/>
                  </a:lnTo>
                  <a:lnTo>
                    <a:pt x="586575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327029" y="2557035"/>
            <a:ext cx="5365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Prompts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43808" y="1859721"/>
            <a:ext cx="1265555" cy="52705"/>
            <a:chOff x="1743808" y="1859721"/>
            <a:chExt cx="1265555" cy="52705"/>
          </a:xfrm>
        </p:grpSpPr>
        <p:sp>
          <p:nvSpPr>
            <p:cNvPr id="25" name="object 25"/>
            <p:cNvSpPr/>
            <p:nvPr/>
          </p:nvSpPr>
          <p:spPr>
            <a:xfrm>
              <a:off x="1748888" y="1886038"/>
              <a:ext cx="1227455" cy="0"/>
            </a:xfrm>
            <a:custGeom>
              <a:avLst/>
              <a:gdLst/>
              <a:ahLst/>
              <a:cxnLst/>
              <a:rect l="l" t="t" r="r" b="b"/>
              <a:pathLst>
                <a:path w="1227455">
                  <a:moveTo>
                    <a:pt x="0" y="0"/>
                  </a:moveTo>
                  <a:lnTo>
                    <a:pt x="1227119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56270" y="185972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012137" y="1681262"/>
            <a:ext cx="734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 MT"/>
                <a:cs typeface="Arial MT"/>
              </a:rPr>
              <a:t>JSON-</a:t>
            </a:r>
            <a:r>
              <a:rPr sz="1100" spc="-25" dirty="0">
                <a:latin typeface="Arial MT"/>
                <a:cs typeface="Arial MT"/>
              </a:rPr>
              <a:t>RPC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738358" y="1994819"/>
            <a:ext cx="1690370" cy="545465"/>
            <a:chOff x="2738358" y="1994819"/>
            <a:chExt cx="1690370" cy="545465"/>
          </a:xfrm>
        </p:grpSpPr>
        <p:sp>
          <p:nvSpPr>
            <p:cNvPr id="29" name="object 29"/>
            <p:cNvSpPr/>
            <p:nvPr/>
          </p:nvSpPr>
          <p:spPr>
            <a:xfrm>
              <a:off x="2763993" y="1999880"/>
              <a:ext cx="646430" cy="519430"/>
            </a:xfrm>
            <a:custGeom>
              <a:avLst/>
              <a:gdLst/>
              <a:ahLst/>
              <a:cxnLst/>
              <a:rect l="l" t="t" r="r" b="b"/>
              <a:pathLst>
                <a:path w="646429" h="519430">
                  <a:moveTo>
                    <a:pt x="645905" y="0"/>
                  </a:moveTo>
                  <a:lnTo>
                    <a:pt x="0" y="519393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38358" y="2486397"/>
              <a:ext cx="57785" cy="53975"/>
            </a:xfrm>
            <a:custGeom>
              <a:avLst/>
              <a:gdLst/>
              <a:ahLst/>
              <a:cxnLst/>
              <a:rect l="l" t="t" r="r" b="b"/>
              <a:pathLst>
                <a:path w="57785" h="53975">
                  <a:moveTo>
                    <a:pt x="57507" y="41016"/>
                  </a:moveTo>
                  <a:lnTo>
                    <a:pt x="25635" y="32876"/>
                  </a:lnTo>
                  <a:lnTo>
                    <a:pt x="24525" y="0"/>
                  </a:lnTo>
                  <a:lnTo>
                    <a:pt x="0" y="53490"/>
                  </a:lnTo>
                  <a:lnTo>
                    <a:pt x="57507" y="41016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51441" y="1999880"/>
              <a:ext cx="0" cy="507365"/>
            </a:xfrm>
            <a:custGeom>
              <a:avLst/>
              <a:gdLst/>
              <a:ahLst/>
              <a:cxnLst/>
              <a:rect l="l" t="t" r="r" b="b"/>
              <a:pathLst>
                <a:path h="507364">
                  <a:moveTo>
                    <a:pt x="0" y="0"/>
                  </a:moveTo>
                  <a:lnTo>
                    <a:pt x="0" y="50711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25125" y="2487253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52633" y="0"/>
                  </a:moveTo>
                  <a:lnTo>
                    <a:pt x="26316" y="19737"/>
                  </a:lnTo>
                  <a:lnTo>
                    <a:pt x="0" y="0"/>
                  </a:lnTo>
                  <a:lnTo>
                    <a:pt x="26316" y="5263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04096" y="1999880"/>
              <a:ext cx="698500" cy="520700"/>
            </a:xfrm>
            <a:custGeom>
              <a:avLst/>
              <a:gdLst/>
              <a:ahLst/>
              <a:cxnLst/>
              <a:rect l="l" t="t" r="r" b="b"/>
              <a:pathLst>
                <a:path w="698500" h="520700">
                  <a:moveTo>
                    <a:pt x="0" y="0"/>
                  </a:moveTo>
                  <a:lnTo>
                    <a:pt x="697879" y="520344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370422" y="2487331"/>
              <a:ext cx="58419" cy="52705"/>
            </a:xfrm>
            <a:custGeom>
              <a:avLst/>
              <a:gdLst/>
              <a:ahLst/>
              <a:cxnLst/>
              <a:rect l="l" t="t" r="r" b="b"/>
              <a:pathLst>
                <a:path w="58420" h="52705">
                  <a:moveTo>
                    <a:pt x="31459" y="0"/>
                  </a:moveTo>
                  <a:lnTo>
                    <a:pt x="31552" y="32894"/>
                  </a:lnTo>
                  <a:lnTo>
                    <a:pt x="0" y="42193"/>
                  </a:lnTo>
                  <a:lnTo>
                    <a:pt x="57923" y="52556"/>
                  </a:lnTo>
                  <a:lnTo>
                    <a:pt x="31459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36" name="object 36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How</a:t>
            </a:r>
            <a:r>
              <a:rPr spc="120" dirty="0"/>
              <a:t> </a:t>
            </a:r>
            <a:r>
              <a:rPr dirty="0"/>
              <a:t>MCP</a:t>
            </a:r>
            <a:r>
              <a:rPr spc="125" dirty="0"/>
              <a:t> </a:t>
            </a:r>
            <a:r>
              <a:rPr dirty="0"/>
              <a:t>Communicates</a:t>
            </a:r>
            <a:r>
              <a:rPr spc="125" dirty="0"/>
              <a:t> </a:t>
            </a:r>
            <a:r>
              <a:rPr dirty="0"/>
              <a:t>(JSON-</a:t>
            </a:r>
            <a:r>
              <a:rPr spc="-20" dirty="0"/>
              <a:t>RPC)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472273"/>
            <a:ext cx="3397250" cy="75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5260" indent="-137160">
              <a:lnSpc>
                <a:spcPct val="100000"/>
              </a:lnSpc>
              <a:spcBef>
                <a:spcPts val="9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Protocol: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Arial MT"/>
                <a:cs typeface="Arial MT"/>
              </a:rPr>
              <a:t>JSON-</a:t>
            </a:r>
            <a:r>
              <a:rPr sz="1100" dirty="0">
                <a:latin typeface="Arial MT"/>
                <a:cs typeface="Arial MT"/>
              </a:rPr>
              <a:t>RPC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structured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communication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90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Purpose: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invokes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tools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standard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requests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90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Key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Idea: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Machine-to-</a:t>
            </a:r>
            <a:r>
              <a:rPr sz="1100" b="1" dirty="0">
                <a:latin typeface="Arial"/>
                <a:cs typeface="Arial"/>
              </a:rPr>
              <a:t>machine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interaction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49812" y="1675781"/>
            <a:ext cx="645160" cy="227965"/>
            <a:chOff x="1149812" y="1675781"/>
            <a:chExt cx="645160" cy="227965"/>
          </a:xfrm>
        </p:grpSpPr>
        <p:sp>
          <p:nvSpPr>
            <p:cNvPr id="5" name="object 5"/>
            <p:cNvSpPr/>
            <p:nvPr/>
          </p:nvSpPr>
          <p:spPr>
            <a:xfrm>
              <a:off x="1152352" y="1678321"/>
              <a:ext cx="640080" cy="222885"/>
            </a:xfrm>
            <a:custGeom>
              <a:avLst/>
              <a:gdLst/>
              <a:ahLst/>
              <a:cxnLst/>
              <a:rect l="l" t="t" r="r" b="b"/>
              <a:pathLst>
                <a:path w="640080" h="222885">
                  <a:moveTo>
                    <a:pt x="58910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589102" y="222623"/>
                  </a:lnTo>
                  <a:lnTo>
                    <a:pt x="608802" y="218646"/>
                  </a:lnTo>
                  <a:lnTo>
                    <a:pt x="624889" y="207799"/>
                  </a:lnTo>
                  <a:lnTo>
                    <a:pt x="635736" y="191712"/>
                  </a:lnTo>
                  <a:lnTo>
                    <a:pt x="639713" y="172012"/>
                  </a:lnTo>
                  <a:lnTo>
                    <a:pt x="639713" y="50610"/>
                  </a:lnTo>
                  <a:lnTo>
                    <a:pt x="635736" y="30910"/>
                  </a:lnTo>
                  <a:lnTo>
                    <a:pt x="624889" y="14823"/>
                  </a:lnTo>
                  <a:lnTo>
                    <a:pt x="608802" y="3977"/>
                  </a:lnTo>
                  <a:lnTo>
                    <a:pt x="589102" y="0"/>
                  </a:lnTo>
                  <a:close/>
                </a:path>
              </a:pathLst>
            </a:custGeom>
            <a:solidFill>
              <a:srgbClr val="C3E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2352" y="1678321"/>
              <a:ext cx="640080" cy="222885"/>
            </a:xfrm>
            <a:custGeom>
              <a:avLst/>
              <a:gdLst/>
              <a:ahLst/>
              <a:cxnLst/>
              <a:rect l="l" t="t" r="r" b="b"/>
              <a:pathLst>
                <a:path w="640080" h="222885">
                  <a:moveTo>
                    <a:pt x="58910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589102" y="222623"/>
                  </a:lnTo>
                  <a:lnTo>
                    <a:pt x="608802" y="218646"/>
                  </a:lnTo>
                  <a:lnTo>
                    <a:pt x="624889" y="207799"/>
                  </a:lnTo>
                  <a:lnTo>
                    <a:pt x="635736" y="191712"/>
                  </a:lnTo>
                  <a:lnTo>
                    <a:pt x="639713" y="172012"/>
                  </a:lnTo>
                  <a:lnTo>
                    <a:pt x="639713" y="50610"/>
                  </a:lnTo>
                  <a:lnTo>
                    <a:pt x="635736" y="30910"/>
                  </a:lnTo>
                  <a:lnTo>
                    <a:pt x="624889" y="14823"/>
                  </a:lnTo>
                  <a:lnTo>
                    <a:pt x="608802" y="3977"/>
                  </a:lnTo>
                  <a:lnTo>
                    <a:pt x="589102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02918" y="1696115"/>
            <a:ext cx="539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AI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Client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86595" y="1675781"/>
            <a:ext cx="843280" cy="227965"/>
            <a:chOff x="2586595" y="1675781"/>
            <a:chExt cx="843280" cy="227965"/>
          </a:xfrm>
        </p:grpSpPr>
        <p:sp>
          <p:nvSpPr>
            <p:cNvPr id="9" name="object 9"/>
            <p:cNvSpPr/>
            <p:nvPr/>
          </p:nvSpPr>
          <p:spPr>
            <a:xfrm>
              <a:off x="2589135" y="1678321"/>
              <a:ext cx="838200" cy="222885"/>
            </a:xfrm>
            <a:custGeom>
              <a:avLst/>
              <a:gdLst/>
              <a:ahLst/>
              <a:cxnLst/>
              <a:rect l="l" t="t" r="r" b="b"/>
              <a:pathLst>
                <a:path w="838200" h="222885">
                  <a:moveTo>
                    <a:pt x="78736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787368" y="222623"/>
                  </a:lnTo>
                  <a:lnTo>
                    <a:pt x="807068" y="218646"/>
                  </a:lnTo>
                  <a:lnTo>
                    <a:pt x="823155" y="207799"/>
                  </a:lnTo>
                  <a:lnTo>
                    <a:pt x="834002" y="191712"/>
                  </a:lnTo>
                  <a:lnTo>
                    <a:pt x="837979" y="172012"/>
                  </a:lnTo>
                  <a:lnTo>
                    <a:pt x="837979" y="50610"/>
                  </a:lnTo>
                  <a:lnTo>
                    <a:pt x="834002" y="30910"/>
                  </a:lnTo>
                  <a:lnTo>
                    <a:pt x="823155" y="14823"/>
                  </a:lnTo>
                  <a:lnTo>
                    <a:pt x="807068" y="3977"/>
                  </a:lnTo>
                  <a:lnTo>
                    <a:pt x="787368" y="0"/>
                  </a:lnTo>
                  <a:close/>
                </a:path>
              </a:pathLst>
            </a:custGeom>
            <a:solidFill>
              <a:srgbClr val="BFD7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89135" y="1678321"/>
              <a:ext cx="838200" cy="222885"/>
            </a:xfrm>
            <a:custGeom>
              <a:avLst/>
              <a:gdLst/>
              <a:ahLst/>
              <a:cxnLst/>
              <a:rect l="l" t="t" r="r" b="b"/>
              <a:pathLst>
                <a:path w="838200" h="222885">
                  <a:moveTo>
                    <a:pt x="78736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787368" y="222623"/>
                  </a:lnTo>
                  <a:lnTo>
                    <a:pt x="807068" y="218646"/>
                  </a:lnTo>
                  <a:lnTo>
                    <a:pt x="823155" y="207799"/>
                  </a:lnTo>
                  <a:lnTo>
                    <a:pt x="834002" y="191712"/>
                  </a:lnTo>
                  <a:lnTo>
                    <a:pt x="837979" y="172012"/>
                  </a:lnTo>
                  <a:lnTo>
                    <a:pt x="837979" y="50610"/>
                  </a:lnTo>
                  <a:lnTo>
                    <a:pt x="834002" y="30910"/>
                  </a:lnTo>
                  <a:lnTo>
                    <a:pt x="823155" y="14823"/>
                  </a:lnTo>
                  <a:lnTo>
                    <a:pt x="807068" y="3977"/>
                  </a:lnTo>
                  <a:lnTo>
                    <a:pt x="787368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39682" y="1696115"/>
            <a:ext cx="737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MCP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Server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21645" y="1677900"/>
            <a:ext cx="388620" cy="223520"/>
            <a:chOff x="4221645" y="1677900"/>
            <a:chExt cx="388620" cy="223520"/>
          </a:xfrm>
        </p:grpSpPr>
        <p:sp>
          <p:nvSpPr>
            <p:cNvPr id="13" name="object 13"/>
            <p:cNvSpPr/>
            <p:nvPr/>
          </p:nvSpPr>
          <p:spPr>
            <a:xfrm>
              <a:off x="4224185" y="1680440"/>
              <a:ext cx="383540" cy="218440"/>
            </a:xfrm>
            <a:custGeom>
              <a:avLst/>
              <a:gdLst/>
              <a:ahLst/>
              <a:cxnLst/>
              <a:rect l="l" t="t" r="r" b="b"/>
              <a:pathLst>
                <a:path w="383539" h="218439">
                  <a:moveTo>
                    <a:pt x="33289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7773"/>
                  </a:lnTo>
                  <a:lnTo>
                    <a:pt x="3977" y="187473"/>
                  </a:lnTo>
                  <a:lnTo>
                    <a:pt x="14823" y="203560"/>
                  </a:lnTo>
                  <a:lnTo>
                    <a:pt x="30910" y="214407"/>
                  </a:lnTo>
                  <a:lnTo>
                    <a:pt x="50610" y="218384"/>
                  </a:lnTo>
                  <a:lnTo>
                    <a:pt x="332891" y="218384"/>
                  </a:lnTo>
                  <a:lnTo>
                    <a:pt x="352592" y="214407"/>
                  </a:lnTo>
                  <a:lnTo>
                    <a:pt x="368679" y="203560"/>
                  </a:lnTo>
                  <a:lnTo>
                    <a:pt x="379525" y="187473"/>
                  </a:lnTo>
                  <a:lnTo>
                    <a:pt x="383502" y="167773"/>
                  </a:lnTo>
                  <a:lnTo>
                    <a:pt x="383502" y="50610"/>
                  </a:lnTo>
                  <a:lnTo>
                    <a:pt x="379525" y="30910"/>
                  </a:lnTo>
                  <a:lnTo>
                    <a:pt x="368679" y="14823"/>
                  </a:lnTo>
                  <a:lnTo>
                    <a:pt x="352592" y="3977"/>
                  </a:lnTo>
                  <a:lnTo>
                    <a:pt x="332891" y="0"/>
                  </a:lnTo>
                  <a:close/>
                </a:path>
              </a:pathLst>
            </a:custGeom>
            <a:solidFill>
              <a:srgbClr val="D0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24185" y="1680440"/>
              <a:ext cx="383540" cy="218440"/>
            </a:xfrm>
            <a:custGeom>
              <a:avLst/>
              <a:gdLst/>
              <a:ahLst/>
              <a:cxnLst/>
              <a:rect l="l" t="t" r="r" b="b"/>
              <a:pathLst>
                <a:path w="383539" h="218439">
                  <a:moveTo>
                    <a:pt x="33289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7773"/>
                  </a:lnTo>
                  <a:lnTo>
                    <a:pt x="3977" y="187473"/>
                  </a:lnTo>
                  <a:lnTo>
                    <a:pt x="14823" y="203560"/>
                  </a:lnTo>
                  <a:lnTo>
                    <a:pt x="30910" y="214407"/>
                  </a:lnTo>
                  <a:lnTo>
                    <a:pt x="50610" y="218384"/>
                  </a:lnTo>
                  <a:lnTo>
                    <a:pt x="332891" y="218384"/>
                  </a:lnTo>
                  <a:lnTo>
                    <a:pt x="352592" y="214407"/>
                  </a:lnTo>
                  <a:lnTo>
                    <a:pt x="368679" y="203560"/>
                  </a:lnTo>
                  <a:lnTo>
                    <a:pt x="379525" y="187473"/>
                  </a:lnTo>
                  <a:lnTo>
                    <a:pt x="383502" y="167773"/>
                  </a:lnTo>
                  <a:lnTo>
                    <a:pt x="383502" y="50610"/>
                  </a:lnTo>
                  <a:lnTo>
                    <a:pt x="379525" y="30910"/>
                  </a:lnTo>
                  <a:lnTo>
                    <a:pt x="368679" y="14823"/>
                  </a:lnTo>
                  <a:lnTo>
                    <a:pt x="352592" y="3977"/>
                  </a:lnTo>
                  <a:lnTo>
                    <a:pt x="332891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74705" y="1695074"/>
            <a:ext cx="2825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Arial"/>
                <a:cs typeface="Arial"/>
              </a:rPr>
              <a:t>Tool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89516" y="1763316"/>
            <a:ext cx="797560" cy="52705"/>
            <a:chOff x="1789516" y="1763316"/>
            <a:chExt cx="797560" cy="52705"/>
          </a:xfrm>
        </p:grpSpPr>
        <p:sp>
          <p:nvSpPr>
            <p:cNvPr id="17" name="object 17"/>
            <p:cNvSpPr/>
            <p:nvPr/>
          </p:nvSpPr>
          <p:spPr>
            <a:xfrm>
              <a:off x="1794596" y="1789633"/>
              <a:ext cx="759460" cy="0"/>
            </a:xfrm>
            <a:custGeom>
              <a:avLst/>
              <a:gdLst/>
              <a:ahLst/>
              <a:cxnLst/>
              <a:rect l="l" t="t" r="r" b="b"/>
              <a:pathLst>
                <a:path w="759460">
                  <a:moveTo>
                    <a:pt x="0" y="0"/>
                  </a:moveTo>
                  <a:lnTo>
                    <a:pt x="759112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33971" y="1763316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15909" y="1558263"/>
            <a:ext cx="9499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 MT"/>
                <a:cs typeface="Arial MT"/>
              </a:rPr>
              <a:t>JSON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Request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24566" y="1763316"/>
            <a:ext cx="802640" cy="52705"/>
            <a:chOff x="3424566" y="1763316"/>
            <a:chExt cx="802640" cy="52705"/>
          </a:xfrm>
        </p:grpSpPr>
        <p:sp>
          <p:nvSpPr>
            <p:cNvPr id="21" name="object 21"/>
            <p:cNvSpPr/>
            <p:nvPr/>
          </p:nvSpPr>
          <p:spPr>
            <a:xfrm>
              <a:off x="3429646" y="1789633"/>
              <a:ext cx="759460" cy="0"/>
            </a:xfrm>
            <a:custGeom>
              <a:avLst/>
              <a:gdLst/>
              <a:ahLst/>
              <a:cxnLst/>
              <a:rect l="l" t="t" r="r" b="b"/>
              <a:pathLst>
                <a:path w="759460">
                  <a:moveTo>
                    <a:pt x="0" y="0"/>
                  </a:moveTo>
                  <a:lnTo>
                    <a:pt x="759112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69020" y="1763316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62542" y="1789633"/>
              <a:ext cx="759460" cy="0"/>
            </a:xfrm>
            <a:custGeom>
              <a:avLst/>
              <a:gdLst/>
              <a:ahLst/>
              <a:cxnLst/>
              <a:rect l="l" t="t" r="r" b="b"/>
              <a:pathLst>
                <a:path w="759460">
                  <a:moveTo>
                    <a:pt x="759112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29646" y="1763316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52634" y="52633"/>
                  </a:moveTo>
                  <a:lnTo>
                    <a:pt x="32896" y="26316"/>
                  </a:lnTo>
                  <a:lnTo>
                    <a:pt x="52634" y="0"/>
                  </a:lnTo>
                  <a:lnTo>
                    <a:pt x="0" y="26316"/>
                  </a:lnTo>
                  <a:lnTo>
                    <a:pt x="52634" y="52633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13340" y="1546260"/>
            <a:ext cx="424815" cy="4356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indent="-3810">
              <a:lnSpc>
                <a:spcPct val="122200"/>
              </a:lnSpc>
              <a:spcBef>
                <a:spcPts val="100"/>
              </a:spcBef>
            </a:pPr>
            <a:r>
              <a:rPr sz="1100" spc="-30" dirty="0">
                <a:latin typeface="Arial MT"/>
                <a:cs typeface="Arial MT"/>
              </a:rPr>
              <a:t>Invoke </a:t>
            </a:r>
            <a:r>
              <a:rPr sz="1100" spc="-10" dirty="0">
                <a:latin typeface="Arial MT"/>
                <a:cs typeface="Arial MT"/>
              </a:rPr>
              <a:t>Result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794596" y="1763316"/>
            <a:ext cx="792480" cy="52705"/>
            <a:chOff x="1794596" y="1763316"/>
            <a:chExt cx="792480" cy="52705"/>
          </a:xfrm>
        </p:grpSpPr>
        <p:sp>
          <p:nvSpPr>
            <p:cNvPr id="27" name="object 27"/>
            <p:cNvSpPr/>
            <p:nvPr/>
          </p:nvSpPr>
          <p:spPr>
            <a:xfrm>
              <a:off x="1827492" y="1789633"/>
              <a:ext cx="759460" cy="0"/>
            </a:xfrm>
            <a:custGeom>
              <a:avLst/>
              <a:gdLst/>
              <a:ahLst/>
              <a:cxnLst/>
              <a:rect l="l" t="t" r="r" b="b"/>
              <a:pathLst>
                <a:path w="759460">
                  <a:moveTo>
                    <a:pt x="759112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94596" y="1763316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52634" y="52633"/>
                  </a:moveTo>
                  <a:lnTo>
                    <a:pt x="32896" y="26316"/>
                  </a:lnTo>
                  <a:lnTo>
                    <a:pt x="52634" y="0"/>
                  </a:lnTo>
                  <a:lnTo>
                    <a:pt x="0" y="26316"/>
                  </a:lnTo>
                  <a:lnTo>
                    <a:pt x="52634" y="52633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866023" y="1789733"/>
            <a:ext cx="649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 MT"/>
                <a:cs typeface="Arial MT"/>
              </a:rPr>
              <a:t>Response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743" y="2339174"/>
            <a:ext cx="5584825" cy="205104"/>
          </a:xfrm>
          <a:custGeom>
            <a:avLst/>
            <a:gdLst/>
            <a:ahLst/>
            <a:cxnLst/>
            <a:rect l="l" t="t" r="r" b="b"/>
            <a:pathLst>
              <a:path w="5584825" h="20510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4759"/>
                </a:lnTo>
                <a:lnTo>
                  <a:pt x="5584580" y="204759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B79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38544" y="2342282"/>
            <a:ext cx="1198245" cy="188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Example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Request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7743" y="2396108"/>
            <a:ext cx="5635625" cy="578485"/>
            <a:chOff x="87743" y="2396108"/>
            <a:chExt cx="5635625" cy="57848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531287"/>
              <a:ext cx="5584580" cy="5060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38544" y="2396108"/>
              <a:ext cx="5584825" cy="578485"/>
            </a:xfrm>
            <a:custGeom>
              <a:avLst/>
              <a:gdLst/>
              <a:ahLst/>
              <a:cxnLst/>
              <a:rect l="l" t="t" r="r" b="b"/>
              <a:pathLst>
                <a:path w="5584825" h="578485">
                  <a:moveTo>
                    <a:pt x="5584580" y="0"/>
                  </a:moveTo>
                  <a:lnTo>
                    <a:pt x="0" y="0"/>
                  </a:lnTo>
                  <a:lnTo>
                    <a:pt x="0" y="578347"/>
                  </a:lnTo>
                  <a:lnTo>
                    <a:pt x="5584580" y="578347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743" y="2575562"/>
              <a:ext cx="5584825" cy="348615"/>
            </a:xfrm>
            <a:custGeom>
              <a:avLst/>
              <a:gdLst/>
              <a:ahLst/>
              <a:cxnLst/>
              <a:rect l="l" t="t" r="r" b="b"/>
              <a:pathLst>
                <a:path w="5584825" h="348614">
                  <a:moveTo>
                    <a:pt x="5584580" y="0"/>
                  </a:moveTo>
                  <a:lnTo>
                    <a:pt x="0" y="0"/>
                  </a:lnTo>
                  <a:lnTo>
                    <a:pt x="0" y="297291"/>
                  </a:lnTo>
                  <a:lnTo>
                    <a:pt x="4008" y="317016"/>
                  </a:lnTo>
                  <a:lnTo>
                    <a:pt x="14922" y="333169"/>
                  </a:lnTo>
                  <a:lnTo>
                    <a:pt x="31075" y="344083"/>
                  </a:lnTo>
                  <a:lnTo>
                    <a:pt x="50800" y="348091"/>
                  </a:lnTo>
                  <a:lnTo>
                    <a:pt x="5533779" y="348091"/>
                  </a:lnTo>
                  <a:lnTo>
                    <a:pt x="5553504" y="344083"/>
                  </a:lnTo>
                  <a:lnTo>
                    <a:pt x="5569657" y="333169"/>
                  </a:lnTo>
                  <a:lnTo>
                    <a:pt x="5580571" y="317016"/>
                  </a:lnTo>
                  <a:lnTo>
                    <a:pt x="5584580" y="297291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42898" y="2845066"/>
              <a:ext cx="4000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52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56423" y="2845066"/>
              <a:ext cx="4000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52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38544" y="2556540"/>
            <a:ext cx="558482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715" marR="3757295" indent="-66675">
              <a:lnSpc>
                <a:spcPct val="100000"/>
              </a:lnSpc>
              <a:spcBef>
                <a:spcPts val="95"/>
              </a:spcBef>
              <a:tabLst>
                <a:tab pos="730250" algn="l"/>
                <a:tab pos="926465" algn="l"/>
              </a:tabLst>
            </a:pPr>
            <a:r>
              <a:rPr sz="1000" i="1" spc="70" dirty="0">
                <a:latin typeface="Georgia"/>
                <a:cs typeface="Georgia"/>
              </a:rPr>
              <a:t>{</a:t>
            </a:r>
            <a:r>
              <a:rPr sz="1000" i="1" spc="275" dirty="0">
                <a:latin typeface="Georgia"/>
                <a:cs typeface="Georgia"/>
              </a:rPr>
              <a:t> </a:t>
            </a:r>
            <a:r>
              <a:rPr sz="1000" spc="-10" dirty="0">
                <a:latin typeface="Calibri"/>
                <a:cs typeface="Calibri"/>
              </a:rPr>
              <a:t>"method":</a:t>
            </a:r>
            <a:r>
              <a:rPr sz="1000" dirty="0">
                <a:latin typeface="Calibri"/>
                <a:cs typeface="Calibri"/>
              </a:rPr>
              <a:t>		</a:t>
            </a:r>
            <a:r>
              <a:rPr sz="1000" spc="150" dirty="0">
                <a:latin typeface="Calibri"/>
                <a:cs typeface="Calibri"/>
              </a:rPr>
              <a:t>"tools.call", </a:t>
            </a:r>
            <a:r>
              <a:rPr sz="1000" spc="-10" dirty="0">
                <a:latin typeface="Calibri"/>
                <a:cs typeface="Calibri"/>
              </a:rPr>
              <a:t>"name":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spc="90" dirty="0">
                <a:latin typeface="Calibri"/>
                <a:cs typeface="Calibri"/>
              </a:rPr>
              <a:t>"get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spc="75" dirty="0">
                <a:latin typeface="Calibri"/>
                <a:cs typeface="Calibri"/>
              </a:rPr>
              <a:t>user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spc="75" dirty="0">
                <a:latin typeface="Calibri"/>
                <a:cs typeface="Calibri"/>
              </a:rPr>
              <a:t>data"</a:t>
            </a:r>
            <a:r>
              <a:rPr sz="1000" spc="320" dirty="0">
                <a:latin typeface="Calibri"/>
                <a:cs typeface="Calibri"/>
              </a:rPr>
              <a:t> </a:t>
            </a:r>
            <a:r>
              <a:rPr sz="1000" i="1" spc="20" dirty="0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40" name="object 40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919973" y="12903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919973" y="12903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919973" y="12903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4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How</a:t>
            </a:r>
            <a:r>
              <a:rPr spc="50" dirty="0"/>
              <a:t> </a:t>
            </a:r>
            <a:r>
              <a:rPr dirty="0"/>
              <a:t>MCP</a:t>
            </a:r>
            <a:r>
              <a:rPr spc="50" dirty="0"/>
              <a:t> </a:t>
            </a:r>
            <a:r>
              <a:rPr spc="-20" dirty="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732393"/>
            <a:ext cx="1628139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5260" indent="-137160">
              <a:lnSpc>
                <a:spcPct val="100000"/>
              </a:lnSpc>
              <a:spcBef>
                <a:spcPts val="434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sends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query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AI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4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dirty="0">
                <a:latin typeface="Arial MT"/>
                <a:cs typeface="Arial MT"/>
              </a:rPr>
              <a:t>AI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intent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dirty="0">
                <a:latin typeface="Arial MT"/>
                <a:cs typeface="Arial MT"/>
              </a:rPr>
              <a:t>MCP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invokes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tool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spc="-35" dirty="0">
                <a:latin typeface="Arial MT"/>
                <a:cs typeface="Arial MT"/>
              </a:rPr>
              <a:t>Tool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returns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result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dirty="0">
                <a:latin typeface="Arial MT"/>
                <a:cs typeface="Arial MT"/>
              </a:rPr>
              <a:t>AI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responds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user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74408" y="2181032"/>
            <a:ext cx="408305" cy="219710"/>
          </a:xfrm>
          <a:custGeom>
            <a:avLst/>
            <a:gdLst/>
            <a:ahLst/>
            <a:cxnLst/>
            <a:rect l="l" t="t" r="r" b="b"/>
            <a:pathLst>
              <a:path w="408305" h="219710">
                <a:moveTo>
                  <a:pt x="357182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68848"/>
                </a:lnTo>
                <a:lnTo>
                  <a:pt x="3977" y="188549"/>
                </a:lnTo>
                <a:lnTo>
                  <a:pt x="14823" y="204636"/>
                </a:lnTo>
                <a:lnTo>
                  <a:pt x="30910" y="215482"/>
                </a:lnTo>
                <a:lnTo>
                  <a:pt x="50610" y="219459"/>
                </a:lnTo>
                <a:lnTo>
                  <a:pt x="357182" y="219459"/>
                </a:lnTo>
                <a:lnTo>
                  <a:pt x="376882" y="215482"/>
                </a:lnTo>
                <a:lnTo>
                  <a:pt x="392969" y="204636"/>
                </a:lnTo>
                <a:lnTo>
                  <a:pt x="403816" y="188549"/>
                </a:lnTo>
                <a:lnTo>
                  <a:pt x="407793" y="168848"/>
                </a:lnTo>
                <a:lnTo>
                  <a:pt x="407793" y="50610"/>
                </a:lnTo>
                <a:lnTo>
                  <a:pt x="403816" y="30910"/>
                </a:lnTo>
                <a:lnTo>
                  <a:pt x="392969" y="14823"/>
                </a:lnTo>
                <a:lnTo>
                  <a:pt x="376882" y="3977"/>
                </a:lnTo>
                <a:lnTo>
                  <a:pt x="357182" y="0"/>
                </a:lnTo>
                <a:close/>
              </a:path>
            </a:pathLst>
          </a:custGeom>
          <a:ln w="5060">
            <a:solidFill>
              <a:srgbClr val="8B92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4965" y="2195657"/>
            <a:ext cx="3067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Arial"/>
                <a:cs typeface="Arial"/>
              </a:rPr>
              <a:t>User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32732" y="2179662"/>
            <a:ext cx="258445" cy="222250"/>
            <a:chOff x="2232732" y="2179662"/>
            <a:chExt cx="258445" cy="2222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35272" y="2182202"/>
              <a:ext cx="253052" cy="2171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35272" y="2182202"/>
              <a:ext cx="253365" cy="217170"/>
            </a:xfrm>
            <a:custGeom>
              <a:avLst/>
              <a:gdLst/>
              <a:ahLst/>
              <a:cxnLst/>
              <a:rect l="l" t="t" r="r" b="b"/>
              <a:pathLst>
                <a:path w="253364" h="217169">
                  <a:moveTo>
                    <a:pt x="20244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6509"/>
                  </a:lnTo>
                  <a:lnTo>
                    <a:pt x="3977" y="186209"/>
                  </a:lnTo>
                  <a:lnTo>
                    <a:pt x="14823" y="202296"/>
                  </a:lnTo>
                  <a:lnTo>
                    <a:pt x="30910" y="213142"/>
                  </a:lnTo>
                  <a:lnTo>
                    <a:pt x="50610" y="217119"/>
                  </a:lnTo>
                  <a:lnTo>
                    <a:pt x="202441" y="217119"/>
                  </a:lnTo>
                  <a:lnTo>
                    <a:pt x="222141" y="213142"/>
                  </a:lnTo>
                  <a:lnTo>
                    <a:pt x="238228" y="202296"/>
                  </a:lnTo>
                  <a:lnTo>
                    <a:pt x="249075" y="186209"/>
                  </a:lnTo>
                  <a:lnTo>
                    <a:pt x="253052" y="166509"/>
                  </a:lnTo>
                  <a:lnTo>
                    <a:pt x="253052" y="50610"/>
                  </a:lnTo>
                  <a:lnTo>
                    <a:pt x="249075" y="30910"/>
                  </a:lnTo>
                  <a:lnTo>
                    <a:pt x="238228" y="14823"/>
                  </a:lnTo>
                  <a:lnTo>
                    <a:pt x="222141" y="3977"/>
                  </a:lnTo>
                  <a:lnTo>
                    <a:pt x="202441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285822" y="2196825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AI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38855" y="2176910"/>
            <a:ext cx="412750" cy="227965"/>
            <a:chOff x="3138855" y="2176910"/>
            <a:chExt cx="412750" cy="227965"/>
          </a:xfrm>
        </p:grpSpPr>
        <p:sp>
          <p:nvSpPr>
            <p:cNvPr id="11" name="object 11"/>
            <p:cNvSpPr/>
            <p:nvPr/>
          </p:nvSpPr>
          <p:spPr>
            <a:xfrm>
              <a:off x="3141395" y="2179450"/>
              <a:ext cx="407670" cy="222885"/>
            </a:xfrm>
            <a:custGeom>
              <a:avLst/>
              <a:gdLst/>
              <a:ahLst/>
              <a:cxnLst/>
              <a:rect l="l" t="t" r="r" b="b"/>
              <a:pathLst>
                <a:path w="407670" h="222885">
                  <a:moveTo>
                    <a:pt x="35705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357057" y="222623"/>
                  </a:lnTo>
                  <a:lnTo>
                    <a:pt x="376758" y="218646"/>
                  </a:lnTo>
                  <a:lnTo>
                    <a:pt x="392845" y="207799"/>
                  </a:lnTo>
                  <a:lnTo>
                    <a:pt x="403691" y="191712"/>
                  </a:lnTo>
                  <a:lnTo>
                    <a:pt x="407668" y="172012"/>
                  </a:lnTo>
                  <a:lnTo>
                    <a:pt x="407668" y="50610"/>
                  </a:lnTo>
                  <a:lnTo>
                    <a:pt x="403691" y="30910"/>
                  </a:lnTo>
                  <a:lnTo>
                    <a:pt x="392845" y="14823"/>
                  </a:lnTo>
                  <a:lnTo>
                    <a:pt x="376758" y="3977"/>
                  </a:lnTo>
                  <a:lnTo>
                    <a:pt x="357057" y="0"/>
                  </a:lnTo>
                  <a:close/>
                </a:path>
              </a:pathLst>
            </a:custGeom>
            <a:solidFill>
              <a:srgbClr val="BFD7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41395" y="2179450"/>
              <a:ext cx="407670" cy="222885"/>
            </a:xfrm>
            <a:custGeom>
              <a:avLst/>
              <a:gdLst/>
              <a:ahLst/>
              <a:cxnLst/>
              <a:rect l="l" t="t" r="r" b="b"/>
              <a:pathLst>
                <a:path w="407670" h="222885">
                  <a:moveTo>
                    <a:pt x="35705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357057" y="222623"/>
                  </a:lnTo>
                  <a:lnTo>
                    <a:pt x="376758" y="218646"/>
                  </a:lnTo>
                  <a:lnTo>
                    <a:pt x="392845" y="207799"/>
                  </a:lnTo>
                  <a:lnTo>
                    <a:pt x="403691" y="191712"/>
                  </a:lnTo>
                  <a:lnTo>
                    <a:pt x="407668" y="172012"/>
                  </a:lnTo>
                  <a:lnTo>
                    <a:pt x="407668" y="50610"/>
                  </a:lnTo>
                  <a:lnTo>
                    <a:pt x="403691" y="30910"/>
                  </a:lnTo>
                  <a:lnTo>
                    <a:pt x="392845" y="14823"/>
                  </a:lnTo>
                  <a:lnTo>
                    <a:pt x="376758" y="3977"/>
                  </a:lnTo>
                  <a:lnTo>
                    <a:pt x="357057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91929" y="2197244"/>
            <a:ext cx="3067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MCP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199594" y="2179030"/>
            <a:ext cx="388620" cy="223520"/>
            <a:chOff x="4199594" y="2179030"/>
            <a:chExt cx="388620" cy="223520"/>
          </a:xfrm>
        </p:grpSpPr>
        <p:sp>
          <p:nvSpPr>
            <p:cNvPr id="15" name="object 15"/>
            <p:cNvSpPr/>
            <p:nvPr/>
          </p:nvSpPr>
          <p:spPr>
            <a:xfrm>
              <a:off x="4202134" y="2181570"/>
              <a:ext cx="383540" cy="218440"/>
            </a:xfrm>
            <a:custGeom>
              <a:avLst/>
              <a:gdLst/>
              <a:ahLst/>
              <a:cxnLst/>
              <a:rect l="l" t="t" r="r" b="b"/>
              <a:pathLst>
                <a:path w="383539" h="218439">
                  <a:moveTo>
                    <a:pt x="33289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7773"/>
                  </a:lnTo>
                  <a:lnTo>
                    <a:pt x="3977" y="187473"/>
                  </a:lnTo>
                  <a:lnTo>
                    <a:pt x="14823" y="203560"/>
                  </a:lnTo>
                  <a:lnTo>
                    <a:pt x="30910" y="214407"/>
                  </a:lnTo>
                  <a:lnTo>
                    <a:pt x="50610" y="218384"/>
                  </a:lnTo>
                  <a:lnTo>
                    <a:pt x="332891" y="218384"/>
                  </a:lnTo>
                  <a:lnTo>
                    <a:pt x="352591" y="214407"/>
                  </a:lnTo>
                  <a:lnTo>
                    <a:pt x="368679" y="203560"/>
                  </a:lnTo>
                  <a:lnTo>
                    <a:pt x="379525" y="187473"/>
                  </a:lnTo>
                  <a:lnTo>
                    <a:pt x="383502" y="167773"/>
                  </a:lnTo>
                  <a:lnTo>
                    <a:pt x="383502" y="50610"/>
                  </a:lnTo>
                  <a:lnTo>
                    <a:pt x="379525" y="30910"/>
                  </a:lnTo>
                  <a:lnTo>
                    <a:pt x="368679" y="14823"/>
                  </a:lnTo>
                  <a:lnTo>
                    <a:pt x="352591" y="3977"/>
                  </a:lnTo>
                  <a:lnTo>
                    <a:pt x="332891" y="0"/>
                  </a:lnTo>
                  <a:close/>
                </a:path>
              </a:pathLst>
            </a:custGeom>
            <a:solidFill>
              <a:srgbClr val="D0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02134" y="2181570"/>
              <a:ext cx="383540" cy="218440"/>
            </a:xfrm>
            <a:custGeom>
              <a:avLst/>
              <a:gdLst/>
              <a:ahLst/>
              <a:cxnLst/>
              <a:rect l="l" t="t" r="r" b="b"/>
              <a:pathLst>
                <a:path w="383539" h="218439">
                  <a:moveTo>
                    <a:pt x="33289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7773"/>
                  </a:lnTo>
                  <a:lnTo>
                    <a:pt x="3977" y="187473"/>
                  </a:lnTo>
                  <a:lnTo>
                    <a:pt x="14823" y="203560"/>
                  </a:lnTo>
                  <a:lnTo>
                    <a:pt x="30910" y="214407"/>
                  </a:lnTo>
                  <a:lnTo>
                    <a:pt x="50610" y="218384"/>
                  </a:lnTo>
                  <a:lnTo>
                    <a:pt x="332891" y="218384"/>
                  </a:lnTo>
                  <a:lnTo>
                    <a:pt x="352591" y="214407"/>
                  </a:lnTo>
                  <a:lnTo>
                    <a:pt x="368679" y="203560"/>
                  </a:lnTo>
                  <a:lnTo>
                    <a:pt x="379525" y="187473"/>
                  </a:lnTo>
                  <a:lnTo>
                    <a:pt x="383502" y="167773"/>
                  </a:lnTo>
                  <a:lnTo>
                    <a:pt x="383502" y="50610"/>
                  </a:lnTo>
                  <a:lnTo>
                    <a:pt x="379525" y="30910"/>
                  </a:lnTo>
                  <a:lnTo>
                    <a:pt x="368679" y="14823"/>
                  </a:lnTo>
                  <a:lnTo>
                    <a:pt x="352591" y="3977"/>
                  </a:lnTo>
                  <a:lnTo>
                    <a:pt x="332891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252658" y="2196203"/>
            <a:ext cx="2825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Arial"/>
                <a:cs typeface="Arial"/>
              </a:rPr>
              <a:t>Tool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84732" y="2264445"/>
            <a:ext cx="2614930" cy="52705"/>
            <a:chOff x="1584732" y="2264445"/>
            <a:chExt cx="2614930" cy="52705"/>
          </a:xfrm>
        </p:grpSpPr>
        <p:sp>
          <p:nvSpPr>
            <p:cNvPr id="19" name="object 19"/>
            <p:cNvSpPr/>
            <p:nvPr/>
          </p:nvSpPr>
          <p:spPr>
            <a:xfrm>
              <a:off x="1584732" y="2290762"/>
              <a:ext cx="615315" cy="0"/>
            </a:xfrm>
            <a:custGeom>
              <a:avLst/>
              <a:gdLst/>
              <a:ahLst/>
              <a:cxnLst/>
              <a:rect l="l" t="t" r="r" b="b"/>
              <a:pathLst>
                <a:path w="615314">
                  <a:moveTo>
                    <a:pt x="0" y="0"/>
                  </a:moveTo>
                  <a:lnTo>
                    <a:pt x="615113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80108" y="226444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90855" y="2290762"/>
              <a:ext cx="615315" cy="0"/>
            </a:xfrm>
            <a:custGeom>
              <a:avLst/>
              <a:gdLst/>
              <a:ahLst/>
              <a:cxnLst/>
              <a:rect l="l" t="t" r="r" b="b"/>
              <a:pathLst>
                <a:path w="615314">
                  <a:moveTo>
                    <a:pt x="0" y="0"/>
                  </a:moveTo>
                  <a:lnTo>
                    <a:pt x="615113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86231" y="226444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51594" y="2290762"/>
              <a:ext cx="615315" cy="0"/>
            </a:xfrm>
            <a:custGeom>
              <a:avLst/>
              <a:gdLst/>
              <a:ahLst/>
              <a:cxnLst/>
              <a:rect l="l" t="t" r="r" b="b"/>
              <a:pathLst>
                <a:path w="615314">
                  <a:moveTo>
                    <a:pt x="0" y="0"/>
                  </a:moveTo>
                  <a:lnTo>
                    <a:pt x="615113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46969" y="226444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23751" y="2290762"/>
              <a:ext cx="1676400" cy="0"/>
            </a:xfrm>
            <a:custGeom>
              <a:avLst/>
              <a:gdLst/>
              <a:ahLst/>
              <a:cxnLst/>
              <a:rect l="l" t="t" r="r" b="b"/>
              <a:pathLst>
                <a:path w="1676400">
                  <a:moveTo>
                    <a:pt x="1675851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90855" y="226444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52634" y="52633"/>
                  </a:moveTo>
                  <a:lnTo>
                    <a:pt x="32896" y="26316"/>
                  </a:lnTo>
                  <a:lnTo>
                    <a:pt x="52634" y="0"/>
                  </a:lnTo>
                  <a:lnTo>
                    <a:pt x="0" y="26316"/>
                  </a:lnTo>
                  <a:lnTo>
                    <a:pt x="52634" y="52633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28" name="object 28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5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Paper</a:t>
            </a:r>
            <a:r>
              <a:rPr spc="50" dirty="0"/>
              <a:t> </a:t>
            </a:r>
            <a:r>
              <a:rPr dirty="0"/>
              <a:t>1:</a:t>
            </a:r>
            <a:r>
              <a:rPr spc="155" dirty="0"/>
              <a:t> </a:t>
            </a:r>
            <a:r>
              <a:rPr dirty="0"/>
              <a:t>ReAct</a:t>
            </a:r>
            <a:r>
              <a:rPr spc="55" dirty="0"/>
              <a:t> </a:t>
            </a:r>
            <a:r>
              <a:rPr dirty="0"/>
              <a:t>(Reason</a:t>
            </a:r>
            <a:r>
              <a:rPr spc="50" dirty="0"/>
              <a:t> </a:t>
            </a:r>
            <a:r>
              <a:rPr dirty="0"/>
              <a:t>+</a:t>
            </a:r>
            <a:r>
              <a:rPr spc="50" dirty="0"/>
              <a:t> </a:t>
            </a:r>
            <a:r>
              <a:rPr spc="-20" dirty="0"/>
              <a:t>Act)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323466"/>
            <a:ext cx="4398010" cy="115633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75260" indent="-137160">
              <a:lnSpc>
                <a:spcPct val="100000"/>
              </a:lnSpc>
              <a:spcBef>
                <a:spcPts val="56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Objective: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Combine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reasoning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real-</a:t>
            </a:r>
            <a:r>
              <a:rPr sz="1100" dirty="0">
                <a:latin typeface="Arial MT"/>
                <a:cs typeface="Arial MT"/>
              </a:rPr>
              <a:t>world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actions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459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Method: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Iterative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loop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b="1" spc="-10" dirty="0">
                <a:latin typeface="Arial"/>
                <a:cs typeface="Arial"/>
              </a:rPr>
              <a:t>Thought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1" dirty="0">
                <a:latin typeface="Arial"/>
                <a:cs typeface="Arial"/>
              </a:rPr>
              <a:t>Action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Observation</a:t>
            </a:r>
            <a:endParaRPr sz="1100">
              <a:latin typeface="Arial"/>
              <a:cs typeface="Arial"/>
            </a:endParaRPr>
          </a:p>
          <a:p>
            <a:pPr marL="175260" indent="-137160">
              <a:lnSpc>
                <a:spcPct val="100000"/>
              </a:lnSpc>
              <a:spcBef>
                <a:spcPts val="459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Implication: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Reduces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hallucination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improves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decision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accuracy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459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Limitation: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Complex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reasoning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chains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prompt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overhead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459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MCP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Link: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Forms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cognitive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backbone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agents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MCP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88885" y="1719224"/>
            <a:ext cx="638175" cy="250190"/>
            <a:chOff x="1788885" y="1719224"/>
            <a:chExt cx="638175" cy="250190"/>
          </a:xfrm>
        </p:grpSpPr>
        <p:sp>
          <p:nvSpPr>
            <p:cNvPr id="5" name="object 5"/>
            <p:cNvSpPr/>
            <p:nvPr/>
          </p:nvSpPr>
          <p:spPr>
            <a:xfrm>
              <a:off x="1791425" y="1721764"/>
              <a:ext cx="633095" cy="245110"/>
            </a:xfrm>
            <a:custGeom>
              <a:avLst/>
              <a:gdLst/>
              <a:ahLst/>
              <a:cxnLst/>
              <a:rect l="l" t="t" r="r" b="b"/>
              <a:pathLst>
                <a:path w="633094" h="245110">
                  <a:moveTo>
                    <a:pt x="5818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93964"/>
                  </a:lnTo>
                  <a:lnTo>
                    <a:pt x="3977" y="213664"/>
                  </a:lnTo>
                  <a:lnTo>
                    <a:pt x="14823" y="229751"/>
                  </a:lnTo>
                  <a:lnTo>
                    <a:pt x="30910" y="240598"/>
                  </a:lnTo>
                  <a:lnTo>
                    <a:pt x="50610" y="244575"/>
                  </a:lnTo>
                  <a:lnTo>
                    <a:pt x="581896" y="244575"/>
                  </a:lnTo>
                  <a:lnTo>
                    <a:pt x="601596" y="240598"/>
                  </a:lnTo>
                  <a:lnTo>
                    <a:pt x="617684" y="229751"/>
                  </a:lnTo>
                  <a:lnTo>
                    <a:pt x="628530" y="213664"/>
                  </a:lnTo>
                  <a:lnTo>
                    <a:pt x="632507" y="193964"/>
                  </a:lnTo>
                  <a:lnTo>
                    <a:pt x="632507" y="50610"/>
                  </a:lnTo>
                  <a:lnTo>
                    <a:pt x="628530" y="30910"/>
                  </a:lnTo>
                  <a:lnTo>
                    <a:pt x="617684" y="14823"/>
                  </a:lnTo>
                  <a:lnTo>
                    <a:pt x="601596" y="3977"/>
                  </a:lnTo>
                  <a:lnTo>
                    <a:pt x="581896" y="0"/>
                  </a:lnTo>
                  <a:close/>
                </a:path>
              </a:pathLst>
            </a:custGeom>
            <a:solidFill>
              <a:srgbClr val="C3E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91425" y="1721764"/>
              <a:ext cx="633095" cy="245110"/>
            </a:xfrm>
            <a:custGeom>
              <a:avLst/>
              <a:gdLst/>
              <a:ahLst/>
              <a:cxnLst/>
              <a:rect l="l" t="t" r="r" b="b"/>
              <a:pathLst>
                <a:path w="633094" h="245110">
                  <a:moveTo>
                    <a:pt x="5818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93964"/>
                  </a:lnTo>
                  <a:lnTo>
                    <a:pt x="3977" y="213664"/>
                  </a:lnTo>
                  <a:lnTo>
                    <a:pt x="14823" y="229751"/>
                  </a:lnTo>
                  <a:lnTo>
                    <a:pt x="30910" y="240598"/>
                  </a:lnTo>
                  <a:lnTo>
                    <a:pt x="50610" y="244575"/>
                  </a:lnTo>
                  <a:lnTo>
                    <a:pt x="581896" y="244575"/>
                  </a:lnTo>
                  <a:lnTo>
                    <a:pt x="601596" y="240598"/>
                  </a:lnTo>
                  <a:lnTo>
                    <a:pt x="617684" y="229751"/>
                  </a:lnTo>
                  <a:lnTo>
                    <a:pt x="628530" y="213664"/>
                  </a:lnTo>
                  <a:lnTo>
                    <a:pt x="632507" y="193964"/>
                  </a:lnTo>
                  <a:lnTo>
                    <a:pt x="632507" y="50610"/>
                  </a:lnTo>
                  <a:lnTo>
                    <a:pt x="628530" y="30910"/>
                  </a:lnTo>
                  <a:lnTo>
                    <a:pt x="617684" y="14823"/>
                  </a:lnTo>
                  <a:lnTo>
                    <a:pt x="601596" y="3977"/>
                  </a:lnTo>
                  <a:lnTo>
                    <a:pt x="581896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41995" y="1736399"/>
            <a:ext cx="531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Thought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18463" y="1731466"/>
            <a:ext cx="525780" cy="225425"/>
            <a:chOff x="3218463" y="1731466"/>
            <a:chExt cx="525780" cy="225425"/>
          </a:xfrm>
        </p:grpSpPr>
        <p:sp>
          <p:nvSpPr>
            <p:cNvPr id="9" name="object 9"/>
            <p:cNvSpPr/>
            <p:nvPr/>
          </p:nvSpPr>
          <p:spPr>
            <a:xfrm>
              <a:off x="3221003" y="1734006"/>
              <a:ext cx="520700" cy="220345"/>
            </a:xfrm>
            <a:custGeom>
              <a:avLst/>
              <a:gdLst/>
              <a:ahLst/>
              <a:cxnLst/>
              <a:rect l="l" t="t" r="r" b="b"/>
              <a:pathLst>
                <a:path w="520700" h="220344">
                  <a:moveTo>
                    <a:pt x="46953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9481"/>
                  </a:lnTo>
                  <a:lnTo>
                    <a:pt x="3977" y="189181"/>
                  </a:lnTo>
                  <a:lnTo>
                    <a:pt x="14823" y="205268"/>
                  </a:lnTo>
                  <a:lnTo>
                    <a:pt x="30910" y="216115"/>
                  </a:lnTo>
                  <a:lnTo>
                    <a:pt x="50610" y="220092"/>
                  </a:lnTo>
                  <a:lnTo>
                    <a:pt x="469538" y="220092"/>
                  </a:lnTo>
                  <a:lnTo>
                    <a:pt x="489238" y="216115"/>
                  </a:lnTo>
                  <a:lnTo>
                    <a:pt x="505326" y="205268"/>
                  </a:lnTo>
                  <a:lnTo>
                    <a:pt x="516172" y="189181"/>
                  </a:lnTo>
                  <a:lnTo>
                    <a:pt x="520149" y="169481"/>
                  </a:lnTo>
                  <a:lnTo>
                    <a:pt x="520149" y="50610"/>
                  </a:lnTo>
                  <a:lnTo>
                    <a:pt x="516172" y="30910"/>
                  </a:lnTo>
                  <a:lnTo>
                    <a:pt x="505326" y="14823"/>
                  </a:lnTo>
                  <a:lnTo>
                    <a:pt x="489238" y="3977"/>
                  </a:lnTo>
                  <a:lnTo>
                    <a:pt x="469538" y="0"/>
                  </a:lnTo>
                  <a:close/>
                </a:path>
              </a:pathLst>
            </a:custGeom>
            <a:solidFill>
              <a:srgbClr val="BFD7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1003" y="1734006"/>
              <a:ext cx="520700" cy="220345"/>
            </a:xfrm>
            <a:custGeom>
              <a:avLst/>
              <a:gdLst/>
              <a:ahLst/>
              <a:cxnLst/>
              <a:rect l="l" t="t" r="r" b="b"/>
              <a:pathLst>
                <a:path w="520700" h="220344">
                  <a:moveTo>
                    <a:pt x="46953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9481"/>
                  </a:lnTo>
                  <a:lnTo>
                    <a:pt x="3977" y="189181"/>
                  </a:lnTo>
                  <a:lnTo>
                    <a:pt x="14823" y="205268"/>
                  </a:lnTo>
                  <a:lnTo>
                    <a:pt x="30910" y="216115"/>
                  </a:lnTo>
                  <a:lnTo>
                    <a:pt x="50610" y="220092"/>
                  </a:lnTo>
                  <a:lnTo>
                    <a:pt x="469538" y="220092"/>
                  </a:lnTo>
                  <a:lnTo>
                    <a:pt x="489238" y="216115"/>
                  </a:lnTo>
                  <a:lnTo>
                    <a:pt x="505326" y="205268"/>
                  </a:lnTo>
                  <a:lnTo>
                    <a:pt x="516172" y="189181"/>
                  </a:lnTo>
                  <a:lnTo>
                    <a:pt x="520149" y="169481"/>
                  </a:lnTo>
                  <a:lnTo>
                    <a:pt x="520149" y="50610"/>
                  </a:lnTo>
                  <a:lnTo>
                    <a:pt x="516172" y="30910"/>
                  </a:lnTo>
                  <a:lnTo>
                    <a:pt x="505326" y="14823"/>
                  </a:lnTo>
                  <a:lnTo>
                    <a:pt x="489238" y="3977"/>
                  </a:lnTo>
                  <a:lnTo>
                    <a:pt x="469538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71545" y="1750344"/>
            <a:ext cx="419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Action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6767" y="2748628"/>
            <a:ext cx="868680" cy="227965"/>
            <a:chOff x="3046767" y="2748628"/>
            <a:chExt cx="868680" cy="227965"/>
          </a:xfrm>
        </p:grpSpPr>
        <p:sp>
          <p:nvSpPr>
            <p:cNvPr id="13" name="object 13"/>
            <p:cNvSpPr/>
            <p:nvPr/>
          </p:nvSpPr>
          <p:spPr>
            <a:xfrm>
              <a:off x="3049307" y="2751168"/>
              <a:ext cx="863600" cy="222885"/>
            </a:xfrm>
            <a:custGeom>
              <a:avLst/>
              <a:gdLst/>
              <a:ahLst/>
              <a:cxnLst/>
              <a:rect l="l" t="t" r="r" b="b"/>
              <a:pathLst>
                <a:path w="863600" h="222885">
                  <a:moveTo>
                    <a:pt x="81292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812928" y="222623"/>
                  </a:lnTo>
                  <a:lnTo>
                    <a:pt x="832629" y="218646"/>
                  </a:lnTo>
                  <a:lnTo>
                    <a:pt x="848716" y="207799"/>
                  </a:lnTo>
                  <a:lnTo>
                    <a:pt x="859562" y="191712"/>
                  </a:lnTo>
                  <a:lnTo>
                    <a:pt x="863539" y="172012"/>
                  </a:lnTo>
                  <a:lnTo>
                    <a:pt x="863539" y="50610"/>
                  </a:lnTo>
                  <a:lnTo>
                    <a:pt x="859562" y="30910"/>
                  </a:lnTo>
                  <a:lnTo>
                    <a:pt x="848716" y="14823"/>
                  </a:lnTo>
                  <a:lnTo>
                    <a:pt x="832629" y="3977"/>
                  </a:lnTo>
                  <a:lnTo>
                    <a:pt x="812928" y="0"/>
                  </a:lnTo>
                  <a:close/>
                </a:path>
              </a:pathLst>
            </a:custGeom>
            <a:solidFill>
              <a:srgbClr val="D0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49307" y="2751168"/>
              <a:ext cx="863600" cy="222885"/>
            </a:xfrm>
            <a:custGeom>
              <a:avLst/>
              <a:gdLst/>
              <a:ahLst/>
              <a:cxnLst/>
              <a:rect l="l" t="t" r="r" b="b"/>
              <a:pathLst>
                <a:path w="863600" h="222885">
                  <a:moveTo>
                    <a:pt x="81292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2012"/>
                  </a:lnTo>
                  <a:lnTo>
                    <a:pt x="3977" y="191712"/>
                  </a:lnTo>
                  <a:lnTo>
                    <a:pt x="14823" y="207799"/>
                  </a:lnTo>
                  <a:lnTo>
                    <a:pt x="30910" y="218646"/>
                  </a:lnTo>
                  <a:lnTo>
                    <a:pt x="50610" y="222623"/>
                  </a:lnTo>
                  <a:lnTo>
                    <a:pt x="812928" y="222623"/>
                  </a:lnTo>
                  <a:lnTo>
                    <a:pt x="832629" y="218646"/>
                  </a:lnTo>
                  <a:lnTo>
                    <a:pt x="848716" y="207799"/>
                  </a:lnTo>
                  <a:lnTo>
                    <a:pt x="859562" y="191712"/>
                  </a:lnTo>
                  <a:lnTo>
                    <a:pt x="863539" y="172012"/>
                  </a:lnTo>
                  <a:lnTo>
                    <a:pt x="863539" y="50610"/>
                  </a:lnTo>
                  <a:lnTo>
                    <a:pt x="859562" y="30910"/>
                  </a:lnTo>
                  <a:lnTo>
                    <a:pt x="848716" y="14823"/>
                  </a:lnTo>
                  <a:lnTo>
                    <a:pt x="832629" y="3977"/>
                  </a:lnTo>
                  <a:lnTo>
                    <a:pt x="812928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99854" y="2768947"/>
            <a:ext cx="762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21383" y="1817735"/>
            <a:ext cx="1086485" cy="930910"/>
            <a:chOff x="2421383" y="1817735"/>
            <a:chExt cx="1086485" cy="930910"/>
          </a:xfrm>
        </p:grpSpPr>
        <p:sp>
          <p:nvSpPr>
            <p:cNvPr id="17" name="object 17"/>
            <p:cNvSpPr/>
            <p:nvPr/>
          </p:nvSpPr>
          <p:spPr>
            <a:xfrm>
              <a:off x="2426463" y="1844052"/>
              <a:ext cx="759460" cy="0"/>
            </a:xfrm>
            <a:custGeom>
              <a:avLst/>
              <a:gdLst/>
              <a:ahLst/>
              <a:cxnLst/>
              <a:rect l="l" t="t" r="r" b="b"/>
              <a:pathLst>
                <a:path w="759460">
                  <a:moveTo>
                    <a:pt x="0" y="0"/>
                  </a:moveTo>
                  <a:lnTo>
                    <a:pt x="759112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65838" y="181773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81077" y="1956629"/>
              <a:ext cx="0" cy="759460"/>
            </a:xfrm>
            <a:custGeom>
              <a:avLst/>
              <a:gdLst/>
              <a:ahLst/>
              <a:cxnLst/>
              <a:rect l="l" t="t" r="r" b="b"/>
              <a:pathLst>
                <a:path h="759460">
                  <a:moveTo>
                    <a:pt x="0" y="0"/>
                  </a:moveTo>
                  <a:lnTo>
                    <a:pt x="0" y="759112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54760" y="269600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52633" y="0"/>
                  </a:moveTo>
                  <a:lnTo>
                    <a:pt x="26316" y="19737"/>
                  </a:lnTo>
                  <a:lnTo>
                    <a:pt x="0" y="0"/>
                  </a:lnTo>
                  <a:lnTo>
                    <a:pt x="26316" y="5263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19589" y="2250286"/>
            <a:ext cx="418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 MT"/>
                <a:cs typeface="Arial MT"/>
              </a:rPr>
              <a:t>Result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275960" y="1968871"/>
            <a:ext cx="1057275" cy="784860"/>
            <a:chOff x="2275960" y="1968871"/>
            <a:chExt cx="1057275" cy="784860"/>
          </a:xfrm>
        </p:grpSpPr>
        <p:sp>
          <p:nvSpPr>
            <p:cNvPr id="23" name="object 23"/>
            <p:cNvSpPr/>
            <p:nvPr/>
          </p:nvSpPr>
          <p:spPr>
            <a:xfrm>
              <a:off x="2302384" y="1988462"/>
              <a:ext cx="1025525" cy="760730"/>
            </a:xfrm>
            <a:custGeom>
              <a:avLst/>
              <a:gdLst/>
              <a:ahLst/>
              <a:cxnLst/>
              <a:rect l="l" t="t" r="r" b="b"/>
              <a:pathLst>
                <a:path w="1025525" h="760730">
                  <a:moveTo>
                    <a:pt x="1025322" y="76017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75960" y="1968871"/>
              <a:ext cx="58419" cy="52705"/>
            </a:xfrm>
            <a:custGeom>
              <a:avLst/>
              <a:gdLst/>
              <a:ahLst/>
              <a:cxnLst/>
              <a:rect l="l" t="t" r="r" b="b"/>
              <a:pathLst>
                <a:path w="58419" h="52705">
                  <a:moveTo>
                    <a:pt x="26605" y="52485"/>
                  </a:moveTo>
                  <a:lnTo>
                    <a:pt x="26423" y="19591"/>
                  </a:lnTo>
                  <a:lnTo>
                    <a:pt x="57951" y="10207"/>
                  </a:lnTo>
                  <a:lnTo>
                    <a:pt x="0" y="0"/>
                  </a:lnTo>
                  <a:lnTo>
                    <a:pt x="26605" y="52485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136457" y="2256407"/>
            <a:ext cx="627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 MT"/>
                <a:cs typeface="Arial MT"/>
              </a:rPr>
              <a:t>Feedback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27" name="object 27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6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B7E711-73FC-DE24-9F6B-FC5C0865F8F4}"/>
              </a:ext>
            </a:extLst>
          </p:cNvPr>
          <p:cNvSpPr txBox="1"/>
          <p:nvPr/>
        </p:nvSpPr>
        <p:spPr>
          <a:xfrm>
            <a:off x="2555382" y="-9495"/>
            <a:ext cx="3451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Shunyo</a:t>
            </a:r>
            <a:r>
              <a:rPr lang="en-US" dirty="0"/>
              <a:t> Yao et al. (Princeton)</a:t>
            </a:r>
            <a:endParaRPr lang="en-IN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Paper</a:t>
            </a:r>
            <a:r>
              <a:rPr spc="20" dirty="0"/>
              <a:t> </a:t>
            </a:r>
            <a:r>
              <a:rPr dirty="0"/>
              <a:t>2:</a:t>
            </a:r>
            <a:r>
              <a:rPr spc="120" dirty="0"/>
              <a:t> </a:t>
            </a:r>
            <a:r>
              <a:rPr spc="-10" dirty="0"/>
              <a:t>ToolLLM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748053"/>
            <a:ext cx="2672715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5260" indent="-137160">
              <a:lnSpc>
                <a:spcPct val="100000"/>
              </a:lnSpc>
              <a:spcBef>
                <a:spcPts val="434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Objective: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Enable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LLMs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APIs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4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Method: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Convert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text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calls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Implication: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 MT"/>
                <a:cs typeface="Arial MT"/>
              </a:rPr>
              <a:t>Real-</a:t>
            </a:r>
            <a:r>
              <a:rPr sz="1100" dirty="0">
                <a:latin typeface="Arial MT"/>
                <a:cs typeface="Arial MT"/>
              </a:rPr>
              <a:t>world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interaction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Limitation: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Limited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static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APIs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33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MCP: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Shows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standard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protocol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3670" y="2159112"/>
            <a:ext cx="408305" cy="219710"/>
          </a:xfrm>
          <a:custGeom>
            <a:avLst/>
            <a:gdLst/>
            <a:ahLst/>
            <a:cxnLst/>
            <a:rect l="l" t="t" r="r" b="b"/>
            <a:pathLst>
              <a:path w="408305" h="219710">
                <a:moveTo>
                  <a:pt x="357182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68848"/>
                </a:lnTo>
                <a:lnTo>
                  <a:pt x="3977" y="188549"/>
                </a:lnTo>
                <a:lnTo>
                  <a:pt x="14823" y="204636"/>
                </a:lnTo>
                <a:lnTo>
                  <a:pt x="30910" y="215482"/>
                </a:lnTo>
                <a:lnTo>
                  <a:pt x="50610" y="219459"/>
                </a:lnTo>
                <a:lnTo>
                  <a:pt x="357182" y="219459"/>
                </a:lnTo>
                <a:lnTo>
                  <a:pt x="376883" y="215482"/>
                </a:lnTo>
                <a:lnTo>
                  <a:pt x="392970" y="204636"/>
                </a:lnTo>
                <a:lnTo>
                  <a:pt x="403816" y="188549"/>
                </a:lnTo>
                <a:lnTo>
                  <a:pt x="407793" y="168848"/>
                </a:lnTo>
                <a:lnTo>
                  <a:pt x="407793" y="50610"/>
                </a:lnTo>
                <a:lnTo>
                  <a:pt x="403816" y="30910"/>
                </a:lnTo>
                <a:lnTo>
                  <a:pt x="392970" y="14823"/>
                </a:lnTo>
                <a:lnTo>
                  <a:pt x="376883" y="3977"/>
                </a:lnTo>
                <a:lnTo>
                  <a:pt x="357182" y="0"/>
                </a:lnTo>
                <a:close/>
              </a:path>
            </a:pathLst>
          </a:custGeom>
          <a:ln w="5060">
            <a:solidFill>
              <a:srgbClr val="8B92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64258" y="2173737"/>
            <a:ext cx="3067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Arial"/>
                <a:cs typeface="Arial"/>
              </a:rPr>
              <a:t>User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701771" y="2157742"/>
            <a:ext cx="391795" cy="222250"/>
            <a:chOff x="2701771" y="2157742"/>
            <a:chExt cx="391795" cy="222250"/>
          </a:xfrm>
        </p:grpSpPr>
        <p:sp>
          <p:nvSpPr>
            <p:cNvPr id="7" name="object 7"/>
            <p:cNvSpPr/>
            <p:nvPr/>
          </p:nvSpPr>
          <p:spPr>
            <a:xfrm>
              <a:off x="2704311" y="2160282"/>
              <a:ext cx="386715" cy="217170"/>
            </a:xfrm>
            <a:custGeom>
              <a:avLst/>
              <a:gdLst/>
              <a:ahLst/>
              <a:cxnLst/>
              <a:rect l="l" t="t" r="r" b="b"/>
              <a:pathLst>
                <a:path w="386714" h="217169">
                  <a:moveTo>
                    <a:pt x="33592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6509"/>
                  </a:lnTo>
                  <a:lnTo>
                    <a:pt x="3977" y="186209"/>
                  </a:lnTo>
                  <a:lnTo>
                    <a:pt x="14823" y="202296"/>
                  </a:lnTo>
                  <a:lnTo>
                    <a:pt x="30910" y="213142"/>
                  </a:lnTo>
                  <a:lnTo>
                    <a:pt x="50610" y="217119"/>
                  </a:lnTo>
                  <a:lnTo>
                    <a:pt x="335928" y="217119"/>
                  </a:lnTo>
                  <a:lnTo>
                    <a:pt x="355628" y="213142"/>
                  </a:lnTo>
                  <a:lnTo>
                    <a:pt x="371715" y="202296"/>
                  </a:lnTo>
                  <a:lnTo>
                    <a:pt x="382562" y="186209"/>
                  </a:lnTo>
                  <a:lnTo>
                    <a:pt x="386539" y="166509"/>
                  </a:lnTo>
                  <a:lnTo>
                    <a:pt x="386539" y="50610"/>
                  </a:lnTo>
                  <a:lnTo>
                    <a:pt x="382562" y="30910"/>
                  </a:lnTo>
                  <a:lnTo>
                    <a:pt x="371715" y="14823"/>
                  </a:lnTo>
                  <a:lnTo>
                    <a:pt x="355628" y="3977"/>
                  </a:lnTo>
                  <a:lnTo>
                    <a:pt x="335928" y="0"/>
                  </a:lnTo>
                  <a:close/>
                </a:path>
              </a:pathLst>
            </a:custGeom>
            <a:solidFill>
              <a:srgbClr val="C3E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04311" y="2160282"/>
              <a:ext cx="386715" cy="217170"/>
            </a:xfrm>
            <a:custGeom>
              <a:avLst/>
              <a:gdLst/>
              <a:ahLst/>
              <a:cxnLst/>
              <a:rect l="l" t="t" r="r" b="b"/>
              <a:pathLst>
                <a:path w="386714" h="217169">
                  <a:moveTo>
                    <a:pt x="33592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6509"/>
                  </a:lnTo>
                  <a:lnTo>
                    <a:pt x="3977" y="186209"/>
                  </a:lnTo>
                  <a:lnTo>
                    <a:pt x="14823" y="202296"/>
                  </a:lnTo>
                  <a:lnTo>
                    <a:pt x="30910" y="213142"/>
                  </a:lnTo>
                  <a:lnTo>
                    <a:pt x="50610" y="217119"/>
                  </a:lnTo>
                  <a:lnTo>
                    <a:pt x="335928" y="217119"/>
                  </a:lnTo>
                  <a:lnTo>
                    <a:pt x="355628" y="213142"/>
                  </a:lnTo>
                  <a:lnTo>
                    <a:pt x="371715" y="202296"/>
                  </a:lnTo>
                  <a:lnTo>
                    <a:pt x="382562" y="186209"/>
                  </a:lnTo>
                  <a:lnTo>
                    <a:pt x="386539" y="166509"/>
                  </a:lnTo>
                  <a:lnTo>
                    <a:pt x="386539" y="50610"/>
                  </a:lnTo>
                  <a:lnTo>
                    <a:pt x="382562" y="30910"/>
                  </a:lnTo>
                  <a:lnTo>
                    <a:pt x="371715" y="14823"/>
                  </a:lnTo>
                  <a:lnTo>
                    <a:pt x="355628" y="3977"/>
                  </a:lnTo>
                  <a:lnTo>
                    <a:pt x="335928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54883" y="2174905"/>
            <a:ext cx="2857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LLM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06332" y="2157742"/>
            <a:ext cx="342900" cy="222250"/>
            <a:chOff x="3806332" y="2157742"/>
            <a:chExt cx="342900" cy="222250"/>
          </a:xfrm>
        </p:grpSpPr>
        <p:sp>
          <p:nvSpPr>
            <p:cNvPr id="11" name="object 11"/>
            <p:cNvSpPr/>
            <p:nvPr/>
          </p:nvSpPr>
          <p:spPr>
            <a:xfrm>
              <a:off x="3808872" y="2160282"/>
              <a:ext cx="337820" cy="217170"/>
            </a:xfrm>
            <a:custGeom>
              <a:avLst/>
              <a:gdLst/>
              <a:ahLst/>
              <a:cxnLst/>
              <a:rect l="l" t="t" r="r" b="b"/>
              <a:pathLst>
                <a:path w="337820" h="217169">
                  <a:moveTo>
                    <a:pt x="28683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6509"/>
                  </a:lnTo>
                  <a:lnTo>
                    <a:pt x="3977" y="186209"/>
                  </a:lnTo>
                  <a:lnTo>
                    <a:pt x="14823" y="202296"/>
                  </a:lnTo>
                  <a:lnTo>
                    <a:pt x="30910" y="213142"/>
                  </a:lnTo>
                  <a:lnTo>
                    <a:pt x="50610" y="217119"/>
                  </a:lnTo>
                  <a:lnTo>
                    <a:pt x="286834" y="217119"/>
                  </a:lnTo>
                  <a:lnTo>
                    <a:pt x="306534" y="213142"/>
                  </a:lnTo>
                  <a:lnTo>
                    <a:pt x="322621" y="202296"/>
                  </a:lnTo>
                  <a:lnTo>
                    <a:pt x="333467" y="186209"/>
                  </a:lnTo>
                  <a:lnTo>
                    <a:pt x="337444" y="166509"/>
                  </a:lnTo>
                  <a:lnTo>
                    <a:pt x="337444" y="50610"/>
                  </a:lnTo>
                  <a:lnTo>
                    <a:pt x="333467" y="30910"/>
                  </a:lnTo>
                  <a:lnTo>
                    <a:pt x="322621" y="14823"/>
                  </a:lnTo>
                  <a:lnTo>
                    <a:pt x="306534" y="3977"/>
                  </a:lnTo>
                  <a:lnTo>
                    <a:pt x="286834" y="0"/>
                  </a:lnTo>
                  <a:close/>
                </a:path>
              </a:pathLst>
            </a:custGeom>
            <a:solidFill>
              <a:srgbClr val="BFD7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8872" y="2160282"/>
              <a:ext cx="337820" cy="217170"/>
            </a:xfrm>
            <a:custGeom>
              <a:avLst/>
              <a:gdLst/>
              <a:ahLst/>
              <a:cxnLst/>
              <a:rect l="l" t="t" r="r" b="b"/>
              <a:pathLst>
                <a:path w="337820" h="217169">
                  <a:moveTo>
                    <a:pt x="28683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66509"/>
                  </a:lnTo>
                  <a:lnTo>
                    <a:pt x="3977" y="186209"/>
                  </a:lnTo>
                  <a:lnTo>
                    <a:pt x="14823" y="202296"/>
                  </a:lnTo>
                  <a:lnTo>
                    <a:pt x="30910" y="213142"/>
                  </a:lnTo>
                  <a:lnTo>
                    <a:pt x="50610" y="217119"/>
                  </a:lnTo>
                  <a:lnTo>
                    <a:pt x="286834" y="217119"/>
                  </a:lnTo>
                  <a:lnTo>
                    <a:pt x="306534" y="213142"/>
                  </a:lnTo>
                  <a:lnTo>
                    <a:pt x="322621" y="202296"/>
                  </a:lnTo>
                  <a:lnTo>
                    <a:pt x="333467" y="186209"/>
                  </a:lnTo>
                  <a:lnTo>
                    <a:pt x="337444" y="166509"/>
                  </a:lnTo>
                  <a:lnTo>
                    <a:pt x="337444" y="50610"/>
                  </a:lnTo>
                  <a:lnTo>
                    <a:pt x="333467" y="30910"/>
                  </a:lnTo>
                  <a:lnTo>
                    <a:pt x="322621" y="14823"/>
                  </a:lnTo>
                  <a:lnTo>
                    <a:pt x="306534" y="3977"/>
                  </a:lnTo>
                  <a:lnTo>
                    <a:pt x="286834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859428" y="2174905"/>
            <a:ext cx="2368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API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023995" y="2242525"/>
            <a:ext cx="1782445" cy="52705"/>
            <a:chOff x="2023995" y="2242525"/>
            <a:chExt cx="1782445" cy="52705"/>
          </a:xfrm>
        </p:grpSpPr>
        <p:sp>
          <p:nvSpPr>
            <p:cNvPr id="15" name="object 15"/>
            <p:cNvSpPr/>
            <p:nvPr/>
          </p:nvSpPr>
          <p:spPr>
            <a:xfrm>
              <a:off x="2023995" y="2268842"/>
              <a:ext cx="645160" cy="0"/>
            </a:xfrm>
            <a:custGeom>
              <a:avLst/>
              <a:gdLst/>
              <a:ahLst/>
              <a:cxnLst/>
              <a:rect l="l" t="t" r="r" b="b"/>
              <a:pathLst>
                <a:path w="645160">
                  <a:moveTo>
                    <a:pt x="0" y="0"/>
                  </a:moveTo>
                  <a:lnTo>
                    <a:pt x="644889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49147" y="224252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93381" y="2268842"/>
              <a:ext cx="680085" cy="0"/>
            </a:xfrm>
            <a:custGeom>
              <a:avLst/>
              <a:gdLst/>
              <a:ahLst/>
              <a:cxnLst/>
              <a:rect l="l" t="t" r="r" b="b"/>
              <a:pathLst>
                <a:path w="680085">
                  <a:moveTo>
                    <a:pt x="0" y="0"/>
                  </a:moveTo>
                  <a:lnTo>
                    <a:pt x="680063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53707" y="224252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6277" y="2268842"/>
              <a:ext cx="680085" cy="0"/>
            </a:xfrm>
            <a:custGeom>
              <a:avLst/>
              <a:gdLst/>
              <a:ahLst/>
              <a:cxnLst/>
              <a:rect l="l" t="t" r="r" b="b"/>
              <a:pathLst>
                <a:path w="680085">
                  <a:moveTo>
                    <a:pt x="680063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93381" y="224252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52634" y="52633"/>
                  </a:moveTo>
                  <a:lnTo>
                    <a:pt x="32896" y="26316"/>
                  </a:lnTo>
                  <a:lnTo>
                    <a:pt x="52634" y="0"/>
                  </a:lnTo>
                  <a:lnTo>
                    <a:pt x="0" y="26316"/>
                  </a:lnTo>
                  <a:lnTo>
                    <a:pt x="52634" y="52633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22" name="object 22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7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02BD8D-6DB2-F7F3-29DC-95565262122B}"/>
              </a:ext>
            </a:extLst>
          </p:cNvPr>
          <p:cNvSpPr txBox="1"/>
          <p:nvPr/>
        </p:nvSpPr>
        <p:spPr>
          <a:xfrm>
            <a:off x="2231854" y="-1686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Author: Qingyang Wu et al.</a:t>
            </a:r>
            <a:endParaRPr lang="en-IN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Paper</a:t>
            </a:r>
            <a:r>
              <a:rPr spc="20" dirty="0"/>
              <a:t> </a:t>
            </a:r>
            <a:r>
              <a:rPr dirty="0"/>
              <a:t>3:</a:t>
            </a:r>
            <a:r>
              <a:rPr spc="120" dirty="0"/>
              <a:t> </a:t>
            </a:r>
            <a:r>
              <a:rPr spc="-10" dirty="0"/>
              <a:t>AutoGen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71081" y="1716072"/>
            <a:ext cx="617855" cy="250190"/>
            <a:chOff x="2571081" y="1716072"/>
            <a:chExt cx="617855" cy="250190"/>
          </a:xfrm>
        </p:grpSpPr>
        <p:sp>
          <p:nvSpPr>
            <p:cNvPr id="4" name="object 4"/>
            <p:cNvSpPr/>
            <p:nvPr/>
          </p:nvSpPr>
          <p:spPr>
            <a:xfrm>
              <a:off x="2573621" y="1718612"/>
              <a:ext cx="612775" cy="245110"/>
            </a:xfrm>
            <a:custGeom>
              <a:avLst/>
              <a:gdLst/>
              <a:ahLst/>
              <a:cxnLst/>
              <a:rect l="l" t="t" r="r" b="b"/>
              <a:pathLst>
                <a:path w="612775" h="245110">
                  <a:moveTo>
                    <a:pt x="56215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93964"/>
                  </a:lnTo>
                  <a:lnTo>
                    <a:pt x="3977" y="213665"/>
                  </a:lnTo>
                  <a:lnTo>
                    <a:pt x="14823" y="229752"/>
                  </a:lnTo>
                  <a:lnTo>
                    <a:pt x="30910" y="240598"/>
                  </a:lnTo>
                  <a:lnTo>
                    <a:pt x="50610" y="244575"/>
                  </a:lnTo>
                  <a:lnTo>
                    <a:pt x="562155" y="244575"/>
                  </a:lnTo>
                  <a:lnTo>
                    <a:pt x="581855" y="240598"/>
                  </a:lnTo>
                  <a:lnTo>
                    <a:pt x="597942" y="229752"/>
                  </a:lnTo>
                  <a:lnTo>
                    <a:pt x="608789" y="213665"/>
                  </a:lnTo>
                  <a:lnTo>
                    <a:pt x="612766" y="193964"/>
                  </a:lnTo>
                  <a:lnTo>
                    <a:pt x="612766" y="50610"/>
                  </a:lnTo>
                  <a:lnTo>
                    <a:pt x="608789" y="30910"/>
                  </a:lnTo>
                  <a:lnTo>
                    <a:pt x="597942" y="14823"/>
                  </a:lnTo>
                  <a:lnTo>
                    <a:pt x="581855" y="3977"/>
                  </a:lnTo>
                  <a:lnTo>
                    <a:pt x="562155" y="0"/>
                  </a:lnTo>
                  <a:close/>
                </a:path>
              </a:pathLst>
            </a:custGeom>
            <a:solidFill>
              <a:srgbClr val="BFD7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73621" y="1718612"/>
              <a:ext cx="612775" cy="245110"/>
            </a:xfrm>
            <a:custGeom>
              <a:avLst/>
              <a:gdLst/>
              <a:ahLst/>
              <a:cxnLst/>
              <a:rect l="l" t="t" r="r" b="b"/>
              <a:pathLst>
                <a:path w="612775" h="245110">
                  <a:moveTo>
                    <a:pt x="56215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93964"/>
                  </a:lnTo>
                  <a:lnTo>
                    <a:pt x="3977" y="213665"/>
                  </a:lnTo>
                  <a:lnTo>
                    <a:pt x="14823" y="229752"/>
                  </a:lnTo>
                  <a:lnTo>
                    <a:pt x="30910" y="240598"/>
                  </a:lnTo>
                  <a:lnTo>
                    <a:pt x="50610" y="244575"/>
                  </a:lnTo>
                  <a:lnTo>
                    <a:pt x="562155" y="244575"/>
                  </a:lnTo>
                  <a:lnTo>
                    <a:pt x="581855" y="240598"/>
                  </a:lnTo>
                  <a:lnTo>
                    <a:pt x="597942" y="229752"/>
                  </a:lnTo>
                  <a:lnTo>
                    <a:pt x="608789" y="213665"/>
                  </a:lnTo>
                  <a:lnTo>
                    <a:pt x="612766" y="193964"/>
                  </a:lnTo>
                  <a:lnTo>
                    <a:pt x="612766" y="50610"/>
                  </a:lnTo>
                  <a:lnTo>
                    <a:pt x="608789" y="30910"/>
                  </a:lnTo>
                  <a:lnTo>
                    <a:pt x="597942" y="14823"/>
                  </a:lnTo>
                  <a:lnTo>
                    <a:pt x="581855" y="3977"/>
                  </a:lnTo>
                  <a:lnTo>
                    <a:pt x="562155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7960" indent="-137160">
              <a:lnSpc>
                <a:spcPct val="100000"/>
              </a:lnSpc>
              <a:spcBef>
                <a:spcPts val="434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spc="-10" dirty="0"/>
              <a:t>Multi-</a:t>
            </a:r>
            <a:r>
              <a:rPr sz="1100" dirty="0"/>
              <a:t>agent </a:t>
            </a:r>
            <a:r>
              <a:rPr sz="1100" spc="-10" dirty="0"/>
              <a:t>collaboration</a:t>
            </a:r>
            <a:endParaRPr sz="1100"/>
          </a:p>
          <a:p>
            <a:pPr marL="187960" indent="-137160">
              <a:lnSpc>
                <a:spcPct val="100000"/>
              </a:lnSpc>
              <a:spcBef>
                <a:spcPts val="334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spc="-40" dirty="0"/>
              <a:t>Task</a:t>
            </a:r>
            <a:r>
              <a:rPr sz="1100" spc="-20" dirty="0"/>
              <a:t> </a:t>
            </a:r>
            <a:r>
              <a:rPr sz="1100" spc="-10" dirty="0"/>
              <a:t>delegation</a:t>
            </a:r>
            <a:r>
              <a:rPr sz="1100" spc="-20" dirty="0"/>
              <a:t> </a:t>
            </a:r>
            <a:r>
              <a:rPr sz="1100" dirty="0"/>
              <a:t>across</a:t>
            </a:r>
            <a:r>
              <a:rPr sz="1100" spc="-15" dirty="0"/>
              <a:t> </a:t>
            </a:r>
            <a:r>
              <a:rPr sz="1100" spc="-10" dirty="0"/>
              <a:t>agents</a:t>
            </a:r>
            <a:endParaRPr sz="1100"/>
          </a:p>
          <a:p>
            <a:pPr marL="187960" indent="-137160">
              <a:lnSpc>
                <a:spcPct val="100000"/>
              </a:lnSpc>
              <a:spcBef>
                <a:spcPts val="330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spc="-10" dirty="0"/>
              <a:t>Improves</a:t>
            </a:r>
            <a:r>
              <a:rPr sz="1100" spc="-20" dirty="0"/>
              <a:t> </a:t>
            </a:r>
            <a:r>
              <a:rPr sz="1100" spc="-10" dirty="0"/>
              <a:t>complex</a:t>
            </a:r>
            <a:r>
              <a:rPr sz="1100" spc="-15" dirty="0"/>
              <a:t> </a:t>
            </a:r>
            <a:r>
              <a:rPr sz="1100" spc="-10" dirty="0"/>
              <a:t>workflows</a:t>
            </a:r>
            <a:endParaRPr sz="1100"/>
          </a:p>
          <a:p>
            <a:pPr marL="187960" indent="-137160">
              <a:lnSpc>
                <a:spcPct val="100000"/>
              </a:lnSpc>
              <a:spcBef>
                <a:spcPts val="335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b="1" spc="-10" dirty="0">
                <a:latin typeface="Arial"/>
                <a:cs typeface="Arial"/>
              </a:rPr>
              <a:t>Foundation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MCP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orchestration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100">
              <a:latin typeface="Arial"/>
              <a:cs typeface="Arial"/>
            </a:endParaRPr>
          </a:p>
          <a:p>
            <a:pPr marR="17780" algn="r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Agent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51072" y="2436081"/>
            <a:ext cx="617855" cy="250190"/>
            <a:chOff x="1851072" y="2436081"/>
            <a:chExt cx="617855" cy="250190"/>
          </a:xfrm>
        </p:grpSpPr>
        <p:sp>
          <p:nvSpPr>
            <p:cNvPr id="8" name="object 8"/>
            <p:cNvSpPr/>
            <p:nvPr/>
          </p:nvSpPr>
          <p:spPr>
            <a:xfrm>
              <a:off x="1853612" y="2438621"/>
              <a:ext cx="612775" cy="245110"/>
            </a:xfrm>
            <a:custGeom>
              <a:avLst/>
              <a:gdLst/>
              <a:ahLst/>
              <a:cxnLst/>
              <a:rect l="l" t="t" r="r" b="b"/>
              <a:pathLst>
                <a:path w="612775" h="245110">
                  <a:moveTo>
                    <a:pt x="56215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93964"/>
                  </a:lnTo>
                  <a:lnTo>
                    <a:pt x="3977" y="213664"/>
                  </a:lnTo>
                  <a:lnTo>
                    <a:pt x="14823" y="229752"/>
                  </a:lnTo>
                  <a:lnTo>
                    <a:pt x="30910" y="240598"/>
                  </a:lnTo>
                  <a:lnTo>
                    <a:pt x="50610" y="244575"/>
                  </a:lnTo>
                  <a:lnTo>
                    <a:pt x="562155" y="244575"/>
                  </a:lnTo>
                  <a:lnTo>
                    <a:pt x="581855" y="240598"/>
                  </a:lnTo>
                  <a:lnTo>
                    <a:pt x="597943" y="229752"/>
                  </a:lnTo>
                  <a:lnTo>
                    <a:pt x="608789" y="213664"/>
                  </a:lnTo>
                  <a:lnTo>
                    <a:pt x="612766" y="193964"/>
                  </a:lnTo>
                  <a:lnTo>
                    <a:pt x="612766" y="50610"/>
                  </a:lnTo>
                  <a:lnTo>
                    <a:pt x="608789" y="30910"/>
                  </a:lnTo>
                  <a:lnTo>
                    <a:pt x="597943" y="14823"/>
                  </a:lnTo>
                  <a:lnTo>
                    <a:pt x="581855" y="3977"/>
                  </a:lnTo>
                  <a:lnTo>
                    <a:pt x="562155" y="0"/>
                  </a:lnTo>
                  <a:close/>
                </a:path>
              </a:pathLst>
            </a:custGeom>
            <a:solidFill>
              <a:srgbClr val="C3E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53612" y="2438621"/>
              <a:ext cx="612775" cy="245110"/>
            </a:xfrm>
            <a:custGeom>
              <a:avLst/>
              <a:gdLst/>
              <a:ahLst/>
              <a:cxnLst/>
              <a:rect l="l" t="t" r="r" b="b"/>
              <a:pathLst>
                <a:path w="612775" h="245110">
                  <a:moveTo>
                    <a:pt x="56215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93964"/>
                  </a:lnTo>
                  <a:lnTo>
                    <a:pt x="3977" y="213664"/>
                  </a:lnTo>
                  <a:lnTo>
                    <a:pt x="14823" y="229752"/>
                  </a:lnTo>
                  <a:lnTo>
                    <a:pt x="30910" y="240598"/>
                  </a:lnTo>
                  <a:lnTo>
                    <a:pt x="50610" y="244575"/>
                  </a:lnTo>
                  <a:lnTo>
                    <a:pt x="562155" y="244575"/>
                  </a:lnTo>
                  <a:lnTo>
                    <a:pt x="581855" y="240598"/>
                  </a:lnTo>
                  <a:lnTo>
                    <a:pt x="597943" y="229752"/>
                  </a:lnTo>
                  <a:lnTo>
                    <a:pt x="608789" y="213664"/>
                  </a:lnTo>
                  <a:lnTo>
                    <a:pt x="612766" y="193964"/>
                  </a:lnTo>
                  <a:lnTo>
                    <a:pt x="612766" y="50610"/>
                  </a:lnTo>
                  <a:lnTo>
                    <a:pt x="608789" y="30910"/>
                  </a:lnTo>
                  <a:lnTo>
                    <a:pt x="597943" y="14823"/>
                  </a:lnTo>
                  <a:lnTo>
                    <a:pt x="581855" y="3977"/>
                  </a:lnTo>
                  <a:lnTo>
                    <a:pt x="562155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04187" y="2453251"/>
            <a:ext cx="51180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Agent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91089" y="2434499"/>
            <a:ext cx="617855" cy="253365"/>
            <a:chOff x="3291089" y="2434499"/>
            <a:chExt cx="617855" cy="253365"/>
          </a:xfrm>
        </p:grpSpPr>
        <p:sp>
          <p:nvSpPr>
            <p:cNvPr id="12" name="object 12"/>
            <p:cNvSpPr/>
            <p:nvPr/>
          </p:nvSpPr>
          <p:spPr>
            <a:xfrm>
              <a:off x="3293629" y="2437039"/>
              <a:ext cx="612775" cy="248285"/>
            </a:xfrm>
            <a:custGeom>
              <a:avLst/>
              <a:gdLst/>
              <a:ahLst/>
              <a:cxnLst/>
              <a:rect l="l" t="t" r="r" b="b"/>
              <a:pathLst>
                <a:path w="612775" h="248285">
                  <a:moveTo>
                    <a:pt x="56215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97128"/>
                  </a:lnTo>
                  <a:lnTo>
                    <a:pt x="3977" y="216828"/>
                  </a:lnTo>
                  <a:lnTo>
                    <a:pt x="14823" y="232915"/>
                  </a:lnTo>
                  <a:lnTo>
                    <a:pt x="30910" y="243761"/>
                  </a:lnTo>
                  <a:lnTo>
                    <a:pt x="50610" y="247739"/>
                  </a:lnTo>
                  <a:lnTo>
                    <a:pt x="562155" y="247739"/>
                  </a:lnTo>
                  <a:lnTo>
                    <a:pt x="581856" y="243761"/>
                  </a:lnTo>
                  <a:lnTo>
                    <a:pt x="597943" y="232915"/>
                  </a:lnTo>
                  <a:lnTo>
                    <a:pt x="608789" y="216828"/>
                  </a:lnTo>
                  <a:lnTo>
                    <a:pt x="612766" y="197128"/>
                  </a:lnTo>
                  <a:lnTo>
                    <a:pt x="612766" y="50610"/>
                  </a:lnTo>
                  <a:lnTo>
                    <a:pt x="608789" y="30910"/>
                  </a:lnTo>
                  <a:lnTo>
                    <a:pt x="597943" y="14823"/>
                  </a:lnTo>
                  <a:lnTo>
                    <a:pt x="581856" y="3977"/>
                  </a:lnTo>
                  <a:lnTo>
                    <a:pt x="562155" y="0"/>
                  </a:lnTo>
                  <a:close/>
                </a:path>
              </a:pathLst>
            </a:custGeom>
            <a:solidFill>
              <a:srgbClr val="D0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93629" y="2437039"/>
              <a:ext cx="612775" cy="248285"/>
            </a:xfrm>
            <a:custGeom>
              <a:avLst/>
              <a:gdLst/>
              <a:ahLst/>
              <a:cxnLst/>
              <a:rect l="l" t="t" r="r" b="b"/>
              <a:pathLst>
                <a:path w="612775" h="248285">
                  <a:moveTo>
                    <a:pt x="56215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97128"/>
                  </a:lnTo>
                  <a:lnTo>
                    <a:pt x="3977" y="216828"/>
                  </a:lnTo>
                  <a:lnTo>
                    <a:pt x="14823" y="232915"/>
                  </a:lnTo>
                  <a:lnTo>
                    <a:pt x="30910" y="243761"/>
                  </a:lnTo>
                  <a:lnTo>
                    <a:pt x="50610" y="247739"/>
                  </a:lnTo>
                  <a:lnTo>
                    <a:pt x="562155" y="247739"/>
                  </a:lnTo>
                  <a:lnTo>
                    <a:pt x="581856" y="243761"/>
                  </a:lnTo>
                  <a:lnTo>
                    <a:pt x="597943" y="232915"/>
                  </a:lnTo>
                  <a:lnTo>
                    <a:pt x="608789" y="216828"/>
                  </a:lnTo>
                  <a:lnTo>
                    <a:pt x="612766" y="197128"/>
                  </a:lnTo>
                  <a:lnTo>
                    <a:pt x="612766" y="50610"/>
                  </a:lnTo>
                  <a:lnTo>
                    <a:pt x="608789" y="30910"/>
                  </a:lnTo>
                  <a:lnTo>
                    <a:pt x="597943" y="14823"/>
                  </a:lnTo>
                  <a:lnTo>
                    <a:pt x="581856" y="3977"/>
                  </a:lnTo>
                  <a:lnTo>
                    <a:pt x="562155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44189" y="2454826"/>
            <a:ext cx="51180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Agent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78230" y="1959195"/>
            <a:ext cx="1202055" cy="646430"/>
            <a:chOff x="2278230" y="1959195"/>
            <a:chExt cx="1202055" cy="646430"/>
          </a:xfrm>
        </p:grpSpPr>
        <p:sp>
          <p:nvSpPr>
            <p:cNvPr id="16" name="object 16"/>
            <p:cNvSpPr/>
            <p:nvPr/>
          </p:nvSpPr>
          <p:spPr>
            <a:xfrm>
              <a:off x="2291898" y="1972875"/>
              <a:ext cx="456565" cy="456565"/>
            </a:xfrm>
            <a:custGeom>
              <a:avLst/>
              <a:gdLst/>
              <a:ahLst/>
              <a:cxnLst/>
              <a:rect l="l" t="t" r="r" b="b"/>
              <a:pathLst>
                <a:path w="456564" h="456564">
                  <a:moveTo>
                    <a:pt x="456131" y="0"/>
                  </a:moveTo>
                  <a:lnTo>
                    <a:pt x="0" y="45605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5709" y="1959199"/>
              <a:ext cx="65989" cy="659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8230" y="2376611"/>
              <a:ext cx="65989" cy="6599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11916" y="1972874"/>
              <a:ext cx="454659" cy="454659"/>
            </a:xfrm>
            <a:custGeom>
              <a:avLst/>
              <a:gdLst/>
              <a:ahLst/>
              <a:cxnLst/>
              <a:rect l="l" t="t" r="r" b="b"/>
              <a:pathLst>
                <a:path w="454660" h="454660">
                  <a:moveTo>
                    <a:pt x="0" y="0"/>
                  </a:moveTo>
                  <a:lnTo>
                    <a:pt x="454612" y="45447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8250" y="1959195"/>
              <a:ext cx="65986" cy="660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4207" y="2375029"/>
              <a:ext cx="65986" cy="6600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479031" y="2560909"/>
              <a:ext cx="802005" cy="0"/>
            </a:xfrm>
            <a:custGeom>
              <a:avLst/>
              <a:gdLst/>
              <a:ahLst/>
              <a:cxnLst/>
              <a:rect l="l" t="t" r="r" b="b"/>
              <a:pathLst>
                <a:path w="802004">
                  <a:moveTo>
                    <a:pt x="0" y="0"/>
                  </a:moveTo>
                  <a:lnTo>
                    <a:pt x="801946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73970" y="2521400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32390" y="79018"/>
                  </a:moveTo>
                  <a:lnTo>
                    <a:pt x="26701" y="63492"/>
                  </a:lnTo>
                  <a:lnTo>
                    <a:pt x="18958" y="52102"/>
                  </a:lnTo>
                  <a:lnTo>
                    <a:pt x="9833" y="44293"/>
                  </a:lnTo>
                  <a:lnTo>
                    <a:pt x="0" y="39509"/>
                  </a:lnTo>
                  <a:lnTo>
                    <a:pt x="9833" y="34724"/>
                  </a:lnTo>
                  <a:lnTo>
                    <a:pt x="18958" y="26915"/>
                  </a:lnTo>
                  <a:lnTo>
                    <a:pt x="26701" y="15525"/>
                  </a:lnTo>
                  <a:lnTo>
                    <a:pt x="3239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53647" y="2521400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26" name="object 26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8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7B8473-BCDF-981B-6B20-1D1CA053AEA8}"/>
              </a:ext>
            </a:extLst>
          </p:cNvPr>
          <p:cNvSpPr txBox="1"/>
          <p:nvPr/>
        </p:nvSpPr>
        <p:spPr>
          <a:xfrm>
            <a:off x="1630308" y="-16865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Chu Wang et al.( Microsoft Research)</a:t>
            </a:r>
            <a:endParaRPr lang="en-IN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Paper</a:t>
            </a:r>
            <a:r>
              <a:rPr spc="50" dirty="0"/>
              <a:t> </a:t>
            </a:r>
            <a:r>
              <a:rPr dirty="0"/>
              <a:t>4:</a:t>
            </a:r>
            <a:r>
              <a:rPr spc="160" dirty="0"/>
              <a:t> </a:t>
            </a:r>
            <a:r>
              <a:rPr dirty="0"/>
              <a:t>MemGPT</a:t>
            </a:r>
            <a:r>
              <a:rPr spc="55" dirty="0"/>
              <a:t> </a:t>
            </a:r>
            <a:r>
              <a:rPr spc="-10" dirty="0"/>
              <a:t>(2023)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540331"/>
            <a:ext cx="5354955" cy="12560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75260" indent="-137160">
              <a:lnSpc>
                <a:spcPct val="100000"/>
              </a:lnSpc>
              <a:spcBef>
                <a:spcPts val="72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Objective: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Enable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LLMs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own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memory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hierarchically.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61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Methodology: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Implemented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OS-</a:t>
            </a:r>
            <a:r>
              <a:rPr sz="1100" dirty="0">
                <a:latin typeface="Arial MT"/>
                <a:cs typeface="Arial MT"/>
              </a:rPr>
              <a:t>inspired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active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archival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memory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tiers.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61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Implication: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Allows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long-</a:t>
            </a:r>
            <a:r>
              <a:rPr sz="1100" dirty="0">
                <a:latin typeface="Arial MT"/>
                <a:cs typeface="Arial MT"/>
              </a:rPr>
              <a:t>term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context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retention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sessions.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62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Limitation: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Memory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retrieval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degrades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massive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archival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stores.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61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MCP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Connection: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Directly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influenced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MCP’s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Resource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primitive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persistent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14921" y="2238763"/>
            <a:ext cx="725170" cy="365125"/>
            <a:chOff x="1614921" y="2238763"/>
            <a:chExt cx="725170" cy="365125"/>
          </a:xfrm>
        </p:grpSpPr>
        <p:sp>
          <p:nvSpPr>
            <p:cNvPr id="5" name="object 5"/>
            <p:cNvSpPr/>
            <p:nvPr/>
          </p:nvSpPr>
          <p:spPr>
            <a:xfrm>
              <a:off x="1617461" y="2241303"/>
              <a:ext cx="720090" cy="360045"/>
            </a:xfrm>
            <a:custGeom>
              <a:avLst/>
              <a:gdLst/>
              <a:ahLst/>
              <a:cxnLst/>
              <a:rect l="l" t="t" r="r" b="b"/>
              <a:pathLst>
                <a:path w="720089" h="360044">
                  <a:moveTo>
                    <a:pt x="669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9393"/>
                  </a:lnTo>
                  <a:lnTo>
                    <a:pt x="3977" y="329093"/>
                  </a:lnTo>
                  <a:lnTo>
                    <a:pt x="14823" y="345180"/>
                  </a:lnTo>
                  <a:lnTo>
                    <a:pt x="30910" y="356026"/>
                  </a:lnTo>
                  <a:lnTo>
                    <a:pt x="50610" y="360004"/>
                  </a:lnTo>
                  <a:lnTo>
                    <a:pt x="669397" y="360004"/>
                  </a:lnTo>
                  <a:lnTo>
                    <a:pt x="689098" y="356026"/>
                  </a:lnTo>
                  <a:lnTo>
                    <a:pt x="705185" y="345180"/>
                  </a:lnTo>
                  <a:lnTo>
                    <a:pt x="716031" y="329093"/>
                  </a:lnTo>
                  <a:lnTo>
                    <a:pt x="720008" y="309393"/>
                  </a:lnTo>
                  <a:lnTo>
                    <a:pt x="720008" y="50610"/>
                  </a:lnTo>
                  <a:lnTo>
                    <a:pt x="716031" y="30910"/>
                  </a:lnTo>
                  <a:lnTo>
                    <a:pt x="705185" y="14823"/>
                  </a:lnTo>
                  <a:lnTo>
                    <a:pt x="689098" y="3977"/>
                  </a:lnTo>
                  <a:lnTo>
                    <a:pt x="669397" y="0"/>
                  </a:lnTo>
                  <a:close/>
                </a:path>
              </a:pathLst>
            </a:custGeom>
            <a:solidFill>
              <a:srgbClr val="C3E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17461" y="2241303"/>
              <a:ext cx="720090" cy="360045"/>
            </a:xfrm>
            <a:custGeom>
              <a:avLst/>
              <a:gdLst/>
              <a:ahLst/>
              <a:cxnLst/>
              <a:rect l="l" t="t" r="r" b="b"/>
              <a:pathLst>
                <a:path w="720089" h="360044">
                  <a:moveTo>
                    <a:pt x="669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9393"/>
                  </a:lnTo>
                  <a:lnTo>
                    <a:pt x="3977" y="329093"/>
                  </a:lnTo>
                  <a:lnTo>
                    <a:pt x="14823" y="345180"/>
                  </a:lnTo>
                  <a:lnTo>
                    <a:pt x="30910" y="356026"/>
                  </a:lnTo>
                  <a:lnTo>
                    <a:pt x="50610" y="360004"/>
                  </a:lnTo>
                  <a:lnTo>
                    <a:pt x="669397" y="360004"/>
                  </a:lnTo>
                  <a:lnTo>
                    <a:pt x="689098" y="356026"/>
                  </a:lnTo>
                  <a:lnTo>
                    <a:pt x="705185" y="345180"/>
                  </a:lnTo>
                  <a:lnTo>
                    <a:pt x="716031" y="329093"/>
                  </a:lnTo>
                  <a:lnTo>
                    <a:pt x="720008" y="309393"/>
                  </a:lnTo>
                  <a:lnTo>
                    <a:pt x="720008" y="50610"/>
                  </a:lnTo>
                  <a:lnTo>
                    <a:pt x="716031" y="30910"/>
                  </a:lnTo>
                  <a:lnTo>
                    <a:pt x="705185" y="14823"/>
                  </a:lnTo>
                  <a:lnTo>
                    <a:pt x="689098" y="3977"/>
                  </a:lnTo>
                  <a:lnTo>
                    <a:pt x="669397" y="0"/>
                  </a:lnTo>
                  <a:close/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34756" y="2327381"/>
            <a:ext cx="2857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LLM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20023" y="2093611"/>
            <a:ext cx="725170" cy="545465"/>
            <a:chOff x="3420023" y="2093611"/>
            <a:chExt cx="725170" cy="545465"/>
          </a:xfrm>
        </p:grpSpPr>
        <p:sp>
          <p:nvSpPr>
            <p:cNvPr id="9" name="object 9"/>
            <p:cNvSpPr/>
            <p:nvPr/>
          </p:nvSpPr>
          <p:spPr>
            <a:xfrm>
              <a:off x="3422563" y="2096151"/>
              <a:ext cx="720090" cy="540385"/>
            </a:xfrm>
            <a:custGeom>
              <a:avLst/>
              <a:gdLst/>
              <a:ahLst/>
              <a:cxnLst/>
              <a:rect l="l" t="t" r="r" b="b"/>
              <a:pathLst>
                <a:path w="720089" h="540385">
                  <a:moveTo>
                    <a:pt x="0" y="72339"/>
                  </a:moveTo>
                  <a:lnTo>
                    <a:pt x="0" y="467666"/>
                  </a:lnTo>
                  <a:lnTo>
                    <a:pt x="7313" y="482245"/>
                  </a:lnTo>
                  <a:lnTo>
                    <a:pt x="61482" y="508112"/>
                  </a:lnTo>
                  <a:lnTo>
                    <a:pt x="105441" y="518818"/>
                  </a:lnTo>
                  <a:lnTo>
                    <a:pt x="158721" y="527652"/>
                  </a:lnTo>
                  <a:lnTo>
                    <a:pt x="219873" y="534321"/>
                  </a:lnTo>
                  <a:lnTo>
                    <a:pt x="287450" y="538536"/>
                  </a:lnTo>
                  <a:lnTo>
                    <a:pt x="360004" y="540006"/>
                  </a:lnTo>
                  <a:lnTo>
                    <a:pt x="432558" y="538536"/>
                  </a:lnTo>
                  <a:lnTo>
                    <a:pt x="500135" y="534321"/>
                  </a:lnTo>
                  <a:lnTo>
                    <a:pt x="561287" y="527652"/>
                  </a:lnTo>
                  <a:lnTo>
                    <a:pt x="614567" y="518818"/>
                  </a:lnTo>
                  <a:lnTo>
                    <a:pt x="658526" y="508112"/>
                  </a:lnTo>
                  <a:lnTo>
                    <a:pt x="712695" y="482245"/>
                  </a:lnTo>
                  <a:lnTo>
                    <a:pt x="720008" y="467666"/>
                  </a:lnTo>
                  <a:lnTo>
                    <a:pt x="720008" y="144679"/>
                  </a:lnTo>
                  <a:lnTo>
                    <a:pt x="360004" y="144679"/>
                  </a:lnTo>
                  <a:lnTo>
                    <a:pt x="287450" y="143210"/>
                  </a:lnTo>
                  <a:lnTo>
                    <a:pt x="219873" y="138995"/>
                  </a:lnTo>
                  <a:lnTo>
                    <a:pt x="158721" y="132325"/>
                  </a:lnTo>
                  <a:lnTo>
                    <a:pt x="105441" y="123492"/>
                  </a:lnTo>
                  <a:lnTo>
                    <a:pt x="61482" y="112786"/>
                  </a:lnTo>
                  <a:lnTo>
                    <a:pt x="7313" y="86919"/>
                  </a:lnTo>
                  <a:lnTo>
                    <a:pt x="0" y="72339"/>
                  </a:lnTo>
                  <a:close/>
                </a:path>
                <a:path w="720089" h="540385">
                  <a:moveTo>
                    <a:pt x="360004" y="0"/>
                  </a:moveTo>
                  <a:lnTo>
                    <a:pt x="287450" y="1469"/>
                  </a:lnTo>
                  <a:lnTo>
                    <a:pt x="219873" y="5684"/>
                  </a:lnTo>
                  <a:lnTo>
                    <a:pt x="158721" y="12354"/>
                  </a:lnTo>
                  <a:lnTo>
                    <a:pt x="105441" y="21187"/>
                  </a:lnTo>
                  <a:lnTo>
                    <a:pt x="61482" y="31893"/>
                  </a:lnTo>
                  <a:lnTo>
                    <a:pt x="7313" y="57760"/>
                  </a:lnTo>
                  <a:lnTo>
                    <a:pt x="0" y="72339"/>
                  </a:lnTo>
                  <a:lnTo>
                    <a:pt x="7313" y="86919"/>
                  </a:lnTo>
                  <a:lnTo>
                    <a:pt x="61482" y="112786"/>
                  </a:lnTo>
                  <a:lnTo>
                    <a:pt x="105441" y="123492"/>
                  </a:lnTo>
                  <a:lnTo>
                    <a:pt x="158721" y="132325"/>
                  </a:lnTo>
                  <a:lnTo>
                    <a:pt x="219873" y="138995"/>
                  </a:lnTo>
                  <a:lnTo>
                    <a:pt x="287450" y="143210"/>
                  </a:lnTo>
                  <a:lnTo>
                    <a:pt x="360004" y="144679"/>
                  </a:lnTo>
                  <a:lnTo>
                    <a:pt x="432558" y="143210"/>
                  </a:lnTo>
                  <a:lnTo>
                    <a:pt x="500135" y="138995"/>
                  </a:lnTo>
                  <a:lnTo>
                    <a:pt x="561287" y="132325"/>
                  </a:lnTo>
                  <a:lnTo>
                    <a:pt x="614567" y="123492"/>
                  </a:lnTo>
                  <a:lnTo>
                    <a:pt x="658526" y="112786"/>
                  </a:lnTo>
                  <a:lnTo>
                    <a:pt x="712695" y="86919"/>
                  </a:lnTo>
                  <a:lnTo>
                    <a:pt x="720008" y="72339"/>
                  </a:lnTo>
                  <a:lnTo>
                    <a:pt x="712695" y="57760"/>
                  </a:lnTo>
                  <a:lnTo>
                    <a:pt x="658526" y="31893"/>
                  </a:lnTo>
                  <a:lnTo>
                    <a:pt x="614567" y="21187"/>
                  </a:lnTo>
                  <a:lnTo>
                    <a:pt x="561287" y="12354"/>
                  </a:lnTo>
                  <a:lnTo>
                    <a:pt x="500135" y="5684"/>
                  </a:lnTo>
                  <a:lnTo>
                    <a:pt x="432558" y="1469"/>
                  </a:lnTo>
                  <a:lnTo>
                    <a:pt x="360004" y="0"/>
                  </a:lnTo>
                  <a:close/>
                </a:path>
                <a:path w="720089" h="540385">
                  <a:moveTo>
                    <a:pt x="720008" y="72339"/>
                  </a:moveTo>
                  <a:lnTo>
                    <a:pt x="691718" y="100498"/>
                  </a:lnTo>
                  <a:lnTo>
                    <a:pt x="614567" y="123492"/>
                  </a:lnTo>
                  <a:lnTo>
                    <a:pt x="561287" y="132325"/>
                  </a:lnTo>
                  <a:lnTo>
                    <a:pt x="500135" y="138995"/>
                  </a:lnTo>
                  <a:lnTo>
                    <a:pt x="432558" y="143210"/>
                  </a:lnTo>
                  <a:lnTo>
                    <a:pt x="360004" y="144679"/>
                  </a:lnTo>
                  <a:lnTo>
                    <a:pt x="720008" y="144679"/>
                  </a:lnTo>
                  <a:lnTo>
                    <a:pt x="720008" y="72339"/>
                  </a:lnTo>
                  <a:close/>
                </a:path>
              </a:pathLst>
            </a:custGeom>
            <a:solidFill>
              <a:srgbClr val="DEF2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22563" y="2096151"/>
              <a:ext cx="720090" cy="540385"/>
            </a:xfrm>
            <a:custGeom>
              <a:avLst/>
              <a:gdLst/>
              <a:ahLst/>
              <a:cxnLst/>
              <a:rect l="l" t="t" r="r" b="b"/>
              <a:pathLst>
                <a:path w="720089" h="540385">
                  <a:moveTo>
                    <a:pt x="0" y="467666"/>
                  </a:moveTo>
                  <a:lnTo>
                    <a:pt x="28290" y="495824"/>
                  </a:lnTo>
                  <a:lnTo>
                    <a:pt x="105441" y="518818"/>
                  </a:lnTo>
                  <a:lnTo>
                    <a:pt x="158721" y="527652"/>
                  </a:lnTo>
                  <a:lnTo>
                    <a:pt x="219873" y="534321"/>
                  </a:lnTo>
                  <a:lnTo>
                    <a:pt x="287450" y="538536"/>
                  </a:lnTo>
                  <a:lnTo>
                    <a:pt x="360004" y="540006"/>
                  </a:lnTo>
                  <a:lnTo>
                    <a:pt x="432558" y="538536"/>
                  </a:lnTo>
                  <a:lnTo>
                    <a:pt x="500135" y="534321"/>
                  </a:lnTo>
                  <a:lnTo>
                    <a:pt x="561287" y="527652"/>
                  </a:lnTo>
                  <a:lnTo>
                    <a:pt x="614567" y="518818"/>
                  </a:lnTo>
                  <a:lnTo>
                    <a:pt x="658526" y="508112"/>
                  </a:lnTo>
                  <a:lnTo>
                    <a:pt x="712695" y="482245"/>
                  </a:lnTo>
                  <a:lnTo>
                    <a:pt x="720008" y="467666"/>
                  </a:lnTo>
                  <a:lnTo>
                    <a:pt x="720008" y="72339"/>
                  </a:lnTo>
                  <a:lnTo>
                    <a:pt x="691718" y="44181"/>
                  </a:lnTo>
                  <a:lnTo>
                    <a:pt x="614567" y="21187"/>
                  </a:lnTo>
                  <a:lnTo>
                    <a:pt x="561287" y="12354"/>
                  </a:lnTo>
                  <a:lnTo>
                    <a:pt x="500135" y="5684"/>
                  </a:lnTo>
                  <a:lnTo>
                    <a:pt x="432558" y="1469"/>
                  </a:lnTo>
                  <a:lnTo>
                    <a:pt x="360004" y="0"/>
                  </a:lnTo>
                  <a:lnTo>
                    <a:pt x="287450" y="1469"/>
                  </a:lnTo>
                  <a:lnTo>
                    <a:pt x="219873" y="5684"/>
                  </a:lnTo>
                  <a:lnTo>
                    <a:pt x="158721" y="12354"/>
                  </a:lnTo>
                  <a:lnTo>
                    <a:pt x="105441" y="21187"/>
                  </a:lnTo>
                  <a:lnTo>
                    <a:pt x="61482" y="31893"/>
                  </a:lnTo>
                  <a:lnTo>
                    <a:pt x="7313" y="57760"/>
                  </a:lnTo>
                  <a:lnTo>
                    <a:pt x="0" y="72339"/>
                  </a:lnTo>
                  <a:lnTo>
                    <a:pt x="0" y="467666"/>
                  </a:lnTo>
                  <a:close/>
                </a:path>
                <a:path w="720089" h="540385">
                  <a:moveTo>
                    <a:pt x="0" y="72339"/>
                  </a:moveTo>
                  <a:lnTo>
                    <a:pt x="28290" y="100498"/>
                  </a:lnTo>
                  <a:lnTo>
                    <a:pt x="105441" y="123492"/>
                  </a:lnTo>
                  <a:lnTo>
                    <a:pt x="158721" y="132325"/>
                  </a:lnTo>
                  <a:lnTo>
                    <a:pt x="219873" y="138995"/>
                  </a:lnTo>
                  <a:lnTo>
                    <a:pt x="287450" y="143210"/>
                  </a:lnTo>
                  <a:lnTo>
                    <a:pt x="360004" y="144679"/>
                  </a:lnTo>
                  <a:lnTo>
                    <a:pt x="432558" y="143210"/>
                  </a:lnTo>
                  <a:lnTo>
                    <a:pt x="500135" y="138995"/>
                  </a:lnTo>
                  <a:lnTo>
                    <a:pt x="561287" y="132325"/>
                  </a:lnTo>
                  <a:lnTo>
                    <a:pt x="614567" y="123492"/>
                  </a:lnTo>
                  <a:lnTo>
                    <a:pt x="658526" y="112786"/>
                  </a:lnTo>
                  <a:lnTo>
                    <a:pt x="712695" y="86919"/>
                  </a:lnTo>
                  <a:lnTo>
                    <a:pt x="720008" y="72339"/>
                  </a:lnTo>
                </a:path>
              </a:pathLst>
            </a:custGeom>
            <a:ln w="5060">
              <a:solidFill>
                <a:srgbClr val="8B92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26663" y="2314072"/>
            <a:ext cx="51180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Memory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40001" y="2394988"/>
            <a:ext cx="1080135" cy="52705"/>
            <a:chOff x="2340001" y="2394988"/>
            <a:chExt cx="1080135" cy="52705"/>
          </a:xfrm>
        </p:grpSpPr>
        <p:sp>
          <p:nvSpPr>
            <p:cNvPr id="13" name="object 13"/>
            <p:cNvSpPr/>
            <p:nvPr/>
          </p:nvSpPr>
          <p:spPr>
            <a:xfrm>
              <a:off x="2372897" y="2421305"/>
              <a:ext cx="1014730" cy="0"/>
            </a:xfrm>
            <a:custGeom>
              <a:avLst/>
              <a:gdLst/>
              <a:ahLst/>
              <a:cxnLst/>
              <a:rect l="l" t="t" r="r" b="b"/>
              <a:pathLst>
                <a:path w="1014729">
                  <a:moveTo>
                    <a:pt x="0" y="0"/>
                  </a:moveTo>
                  <a:lnTo>
                    <a:pt x="1014221" y="0"/>
                  </a:lnTo>
                </a:path>
              </a:pathLst>
            </a:custGeom>
            <a:ln w="10122">
              <a:solidFill>
                <a:srgbClr val="172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40000" y="2394991"/>
              <a:ext cx="1080135" cy="52705"/>
            </a:xfrm>
            <a:custGeom>
              <a:avLst/>
              <a:gdLst/>
              <a:ahLst/>
              <a:cxnLst/>
              <a:rect l="l" t="t" r="r" b="b"/>
              <a:pathLst>
                <a:path w="1080135" h="52705">
                  <a:moveTo>
                    <a:pt x="52628" y="0"/>
                  </a:moveTo>
                  <a:lnTo>
                    <a:pt x="0" y="26314"/>
                  </a:lnTo>
                  <a:lnTo>
                    <a:pt x="52628" y="52641"/>
                  </a:lnTo>
                  <a:lnTo>
                    <a:pt x="32893" y="26314"/>
                  </a:lnTo>
                  <a:lnTo>
                    <a:pt x="52628" y="0"/>
                  </a:lnTo>
                  <a:close/>
                </a:path>
                <a:path w="1080135" h="52705">
                  <a:moveTo>
                    <a:pt x="1080008" y="26327"/>
                  </a:moveTo>
                  <a:lnTo>
                    <a:pt x="1027379" y="0"/>
                  </a:lnTo>
                  <a:lnTo>
                    <a:pt x="1047115" y="26327"/>
                  </a:lnTo>
                  <a:lnTo>
                    <a:pt x="1027379" y="52641"/>
                  </a:lnTo>
                  <a:lnTo>
                    <a:pt x="1080008" y="26327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14803" y="2228753"/>
            <a:ext cx="730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7252A"/>
                </a:solidFill>
                <a:latin typeface="Arial MT"/>
                <a:cs typeface="Arial MT"/>
              </a:rPr>
              <a:t>Read</a:t>
            </a:r>
            <a:r>
              <a:rPr sz="1000" spc="-15" dirty="0">
                <a:solidFill>
                  <a:srgbClr val="1725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7252A"/>
                </a:solidFill>
                <a:latin typeface="Arial MT"/>
                <a:cs typeface="Arial MT"/>
              </a:rPr>
              <a:t>/</a:t>
            </a:r>
            <a:r>
              <a:rPr sz="1000" spc="-5" dirty="0">
                <a:solidFill>
                  <a:srgbClr val="17252A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7252A"/>
                </a:solidFill>
                <a:latin typeface="Arial MT"/>
                <a:cs typeface="Arial MT"/>
              </a:rPr>
              <a:t>Write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17" name="object 17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9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B6DA69-2AE6-08BB-F390-CF6056F42B81}"/>
              </a:ext>
            </a:extLst>
          </p:cNvPr>
          <p:cNvSpPr txBox="1"/>
          <p:nvPr/>
        </p:nvSpPr>
        <p:spPr>
          <a:xfrm>
            <a:off x="2502667" y="-26824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Charles Packer et al.</a:t>
            </a:r>
            <a:endParaRPr lang="en-IN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Paper</a:t>
            </a:r>
            <a:r>
              <a:rPr spc="45" dirty="0"/>
              <a:t> </a:t>
            </a:r>
            <a:r>
              <a:rPr dirty="0"/>
              <a:t>5:</a:t>
            </a:r>
            <a:r>
              <a:rPr spc="155" dirty="0"/>
              <a:t> </a:t>
            </a:r>
            <a:r>
              <a:rPr dirty="0"/>
              <a:t>Gorilla</a:t>
            </a:r>
            <a:r>
              <a:rPr spc="45" dirty="0"/>
              <a:t> </a:t>
            </a:r>
            <a:r>
              <a:rPr spc="-10" dirty="0"/>
              <a:t>(2023)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288" y="876222"/>
            <a:ext cx="5007610" cy="1464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37160">
              <a:lnSpc>
                <a:spcPct val="100000"/>
              </a:lnSpc>
              <a:spcBef>
                <a:spcPts val="90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b="1" dirty="0">
                <a:latin typeface="Arial"/>
                <a:cs typeface="Arial"/>
              </a:rPr>
              <a:t>Objective: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spc="-40" dirty="0">
                <a:latin typeface="Arial MT"/>
                <a:cs typeface="Arial MT"/>
              </a:rPr>
              <a:t>Train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generate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executable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calls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accurately.</a:t>
            </a:r>
            <a:endParaRPr sz="1100">
              <a:latin typeface="Arial MT"/>
              <a:cs typeface="Arial MT"/>
            </a:endParaRPr>
          </a:p>
          <a:p>
            <a:pPr marL="187960" indent="-137160">
              <a:lnSpc>
                <a:spcPct val="100000"/>
              </a:lnSpc>
              <a:spcBef>
                <a:spcPts val="1185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b="1" dirty="0">
                <a:latin typeface="Arial"/>
                <a:cs typeface="Arial"/>
              </a:rPr>
              <a:t>Methodology: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provide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up-to-</a:t>
            </a:r>
            <a:r>
              <a:rPr sz="1100" dirty="0">
                <a:latin typeface="Arial MT"/>
                <a:cs typeface="Arial MT"/>
              </a:rPr>
              <a:t>date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API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documentation.</a:t>
            </a:r>
            <a:endParaRPr sz="1100">
              <a:latin typeface="Arial MT"/>
              <a:cs typeface="Arial MT"/>
            </a:endParaRPr>
          </a:p>
          <a:p>
            <a:pPr marL="187960" indent="-137160">
              <a:lnSpc>
                <a:spcPct val="100000"/>
              </a:lnSpc>
              <a:spcBef>
                <a:spcPts val="1185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b="1" dirty="0">
                <a:latin typeface="Arial"/>
                <a:cs typeface="Arial"/>
              </a:rPr>
              <a:t>Implication: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RAG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combined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generation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reduces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API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hallucinations.</a:t>
            </a:r>
            <a:endParaRPr sz="1100">
              <a:latin typeface="Arial MT"/>
              <a:cs typeface="Arial MT"/>
            </a:endParaRPr>
          </a:p>
          <a:p>
            <a:pPr marL="187960" indent="-137160">
              <a:lnSpc>
                <a:spcPct val="100000"/>
              </a:lnSpc>
              <a:spcBef>
                <a:spcPts val="1180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b="1" dirty="0">
                <a:latin typeface="Arial"/>
                <a:cs typeface="Arial"/>
              </a:rPr>
              <a:t>Limitation: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Focuses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only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read-</a:t>
            </a:r>
            <a:r>
              <a:rPr sz="1100" spc="-20" dirty="0">
                <a:latin typeface="Arial MT"/>
                <a:cs typeface="Arial MT"/>
              </a:rPr>
              <a:t>only,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single-</a:t>
            </a:r>
            <a:r>
              <a:rPr sz="1100" dirty="0">
                <a:latin typeface="Arial MT"/>
                <a:cs typeface="Arial MT"/>
              </a:rPr>
              <a:t>call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scenarios.</a:t>
            </a:r>
            <a:endParaRPr sz="1100">
              <a:latin typeface="Arial MT"/>
              <a:cs typeface="Arial MT"/>
            </a:endParaRPr>
          </a:p>
          <a:p>
            <a:pPr marL="187960" indent="-137160">
              <a:lnSpc>
                <a:spcPct val="100000"/>
              </a:lnSpc>
              <a:spcBef>
                <a:spcPts val="1185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b="1" dirty="0">
                <a:latin typeface="Arial"/>
                <a:cs typeface="Arial"/>
              </a:rPr>
              <a:t>MCP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Connection: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 MT"/>
                <a:cs typeface="Arial MT"/>
              </a:rPr>
              <a:t>Validates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document-</a:t>
            </a:r>
            <a:r>
              <a:rPr sz="1100" dirty="0">
                <a:latin typeface="Arial MT"/>
                <a:cs typeface="Arial MT"/>
              </a:rPr>
              <a:t>grounded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approach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MCP.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5" name="object 5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7A5ABA-F3D6-A4C7-65D9-613F93585F7E}"/>
              </a:ext>
            </a:extLst>
          </p:cNvPr>
          <p:cNvSpPr txBox="1"/>
          <p:nvPr/>
        </p:nvSpPr>
        <p:spPr>
          <a:xfrm>
            <a:off x="2120900" y="-16865"/>
            <a:ext cx="269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Rohit Singh(UC Berkley)</a:t>
            </a:r>
            <a:endParaRPr lang="en-IN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Paper</a:t>
            </a:r>
            <a:r>
              <a:rPr spc="60" dirty="0"/>
              <a:t> </a:t>
            </a:r>
            <a:r>
              <a:rPr dirty="0"/>
              <a:t>6:</a:t>
            </a:r>
            <a:r>
              <a:rPr spc="175" dirty="0"/>
              <a:t> </a:t>
            </a:r>
            <a:r>
              <a:rPr dirty="0"/>
              <a:t>AgentBench</a:t>
            </a:r>
            <a:r>
              <a:rPr spc="65" dirty="0"/>
              <a:t> </a:t>
            </a:r>
            <a:r>
              <a:rPr spc="-10" dirty="0"/>
              <a:t>(2024)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818818"/>
            <a:ext cx="4870450" cy="1636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5260" indent="-137160">
              <a:lnSpc>
                <a:spcPct val="100000"/>
              </a:lnSpc>
              <a:spcBef>
                <a:spcPts val="9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Objective: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Provide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comprehensive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benchmark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LLM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tool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use.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118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Methodology: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Evaluated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25+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LLMs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8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interactive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environments.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118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Implication: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spc="-20" dirty="0">
                <a:latin typeface="Arial MT"/>
                <a:cs typeface="Arial MT"/>
              </a:rPr>
              <a:t>Revealed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major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gaps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open-</a:t>
            </a:r>
            <a:r>
              <a:rPr sz="1100" dirty="0">
                <a:latin typeface="Arial MT"/>
                <a:cs typeface="Arial MT"/>
              </a:rPr>
              <a:t>source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tool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capabilities.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118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Limitation: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Curated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environments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reflect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complexity.</a:t>
            </a:r>
            <a:endParaRPr sz="1100">
              <a:latin typeface="Arial MT"/>
              <a:cs typeface="Arial MT"/>
            </a:endParaRPr>
          </a:p>
          <a:p>
            <a:pPr marL="174625" marR="30480" indent="-137160">
              <a:lnSpc>
                <a:spcPct val="102600"/>
              </a:lnSpc>
              <a:spcBef>
                <a:spcPts val="1150"/>
              </a:spcBef>
              <a:buClr>
                <a:srgbClr val="2B7978"/>
              </a:buClr>
              <a:buFont typeface="Georgia"/>
              <a:buChar char="•"/>
              <a:tabLst>
                <a:tab pos="176530" algn="l"/>
              </a:tabLst>
            </a:pPr>
            <a:r>
              <a:rPr sz="1100" b="1" dirty="0">
                <a:latin typeface="Arial"/>
                <a:cs typeface="Arial"/>
              </a:rPr>
              <a:t>MCP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Connection: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Provides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empirical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baseline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evaluating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MCP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error 	reduction.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5" name="object 5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11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1ACCF-7CC3-21D6-1ACA-36433EACA7B8}"/>
              </a:ext>
            </a:extLst>
          </p:cNvPr>
          <p:cNvSpPr txBox="1"/>
          <p:nvPr/>
        </p:nvSpPr>
        <p:spPr>
          <a:xfrm>
            <a:off x="2550731" y="0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Xingyao</a:t>
            </a:r>
            <a:r>
              <a:rPr lang="en-US" dirty="0"/>
              <a:t> Wang et al.</a:t>
            </a:r>
            <a:endParaRPr lang="en-IN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Paper</a:t>
            </a:r>
            <a:r>
              <a:rPr spc="65" dirty="0"/>
              <a:t> </a:t>
            </a:r>
            <a:r>
              <a:rPr dirty="0"/>
              <a:t>7:</a:t>
            </a:r>
            <a:r>
              <a:rPr spc="175" dirty="0"/>
              <a:t> </a:t>
            </a:r>
            <a:r>
              <a:rPr dirty="0"/>
              <a:t>HuggingGPT</a:t>
            </a:r>
            <a:r>
              <a:rPr spc="65" dirty="0"/>
              <a:t> </a:t>
            </a:r>
            <a:r>
              <a:rPr spc="-10" dirty="0"/>
              <a:t>(2023)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818818"/>
            <a:ext cx="5334000" cy="1636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5260" indent="-137160">
              <a:lnSpc>
                <a:spcPct val="100000"/>
              </a:lnSpc>
              <a:spcBef>
                <a:spcPts val="9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Objective: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Use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LLM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controller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delegate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tasks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specialized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models.</a:t>
            </a:r>
            <a:endParaRPr sz="1100" dirty="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118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Methodology: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ChatGPT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parse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requests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invoke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Hugging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Face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models.</a:t>
            </a:r>
            <a:endParaRPr sz="1100" dirty="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1185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Implication: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spc="-20" dirty="0">
                <a:latin typeface="Arial MT"/>
                <a:cs typeface="Arial MT"/>
              </a:rPr>
              <a:t>Validated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10" dirty="0">
                <a:latin typeface="Arial MT"/>
                <a:cs typeface="Arial MT"/>
              </a:rPr>
              <a:t> orchestrator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concept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0" dirty="0">
                <a:latin typeface="Arial MT"/>
                <a:cs typeface="Arial MT"/>
              </a:rPr>
              <a:t> heterogeneous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tools.</a:t>
            </a:r>
            <a:endParaRPr sz="1100">
              <a:latin typeface="Arial MT"/>
              <a:cs typeface="Arial MT"/>
            </a:endParaRPr>
          </a:p>
          <a:p>
            <a:pPr marL="175260" indent="-137160">
              <a:lnSpc>
                <a:spcPct val="100000"/>
              </a:lnSpc>
              <a:spcBef>
                <a:spcPts val="1180"/>
              </a:spcBef>
              <a:buClr>
                <a:srgbClr val="2B7978"/>
              </a:buClr>
              <a:buFont typeface="Georgia"/>
              <a:buChar char="•"/>
              <a:tabLst>
                <a:tab pos="175260" algn="l"/>
              </a:tabLst>
            </a:pPr>
            <a:r>
              <a:rPr sz="1100" b="1" dirty="0">
                <a:latin typeface="Arial"/>
                <a:cs typeface="Arial"/>
              </a:rPr>
              <a:t>Limitation: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High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latency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due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sequential,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non-standardized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invocations.</a:t>
            </a:r>
            <a:endParaRPr sz="1100" dirty="0">
              <a:latin typeface="Arial MT"/>
              <a:cs typeface="Arial MT"/>
            </a:endParaRPr>
          </a:p>
          <a:p>
            <a:pPr marL="174625" marR="660400" indent="-137160">
              <a:lnSpc>
                <a:spcPct val="102600"/>
              </a:lnSpc>
              <a:spcBef>
                <a:spcPts val="1150"/>
              </a:spcBef>
              <a:buClr>
                <a:srgbClr val="2B7978"/>
              </a:buClr>
              <a:buFont typeface="Georgia"/>
              <a:buChar char="•"/>
              <a:tabLst>
                <a:tab pos="176530" algn="l"/>
              </a:tabLst>
            </a:pPr>
            <a:r>
              <a:rPr sz="1100" b="1" dirty="0">
                <a:latin typeface="Arial"/>
                <a:cs typeface="Arial"/>
              </a:rPr>
              <a:t>MCP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Connection: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direct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precursor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MCP’s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multi-</a:t>
            </a:r>
            <a:r>
              <a:rPr sz="1100" dirty="0">
                <a:latin typeface="Arial MT"/>
                <a:cs typeface="Arial MT"/>
              </a:rPr>
              <a:t>server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orchestration 	architecture.</a:t>
            </a:r>
            <a:endParaRPr sz="11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5" name="object 5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12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89BFB-1F9E-5368-B0BB-5CF9E4BFBFA6}"/>
              </a:ext>
            </a:extLst>
          </p:cNvPr>
          <p:cNvSpPr txBox="1"/>
          <p:nvPr/>
        </p:nvSpPr>
        <p:spPr>
          <a:xfrm>
            <a:off x="2425700" y="11258"/>
            <a:ext cx="337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Yangchao</a:t>
            </a:r>
            <a:r>
              <a:rPr lang="en-US" dirty="0"/>
              <a:t> Wang et al. (Microsoft)</a:t>
            </a:r>
            <a:endParaRPr lang="en-IN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5564"/>
            <a:ext cx="19761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MCP</a:t>
            </a:r>
            <a:r>
              <a:rPr sz="1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vs</a:t>
            </a:r>
            <a:r>
              <a:rPr sz="1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Traditional</a:t>
            </a:r>
            <a:r>
              <a:rPr sz="1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APIs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16481" y="510984"/>
          <a:ext cx="2922269" cy="1577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Feature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25" dirty="0">
                          <a:latin typeface="Arial"/>
                          <a:cs typeface="Arial"/>
                        </a:rPr>
                        <a:t>MCP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Traditional</a:t>
                      </a:r>
                      <a:r>
                        <a:rPr sz="1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APIs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Standardization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20" dirty="0">
                          <a:solidFill>
                            <a:srgbClr val="2B7978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Dynamic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Tool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Use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25" dirty="0">
                          <a:solidFill>
                            <a:srgbClr val="2B7978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No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Scalability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20" dirty="0">
                          <a:solidFill>
                            <a:srgbClr val="2B7978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Limited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Integration</a:t>
                      </a:r>
                      <a:r>
                        <a:rPr sz="11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Effort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25" dirty="0">
                          <a:solidFill>
                            <a:srgbClr val="2B7978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High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Flexibility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20" dirty="0">
                          <a:solidFill>
                            <a:srgbClr val="2B7978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7743" y="2526232"/>
            <a:ext cx="5584825" cy="207010"/>
          </a:xfrm>
          <a:custGeom>
            <a:avLst/>
            <a:gdLst/>
            <a:ahLst/>
            <a:cxnLst/>
            <a:rect l="l" t="t" r="r" b="b"/>
            <a:pathLst>
              <a:path w="5584825" h="20701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6885"/>
                </a:lnTo>
                <a:lnTo>
                  <a:pt x="5584580" y="206885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B79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8544" y="2529327"/>
            <a:ext cx="742315" cy="188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Insight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2583163"/>
            <a:ext cx="5635625" cy="434975"/>
            <a:chOff x="87743" y="2583163"/>
            <a:chExt cx="5635625" cy="4349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720454"/>
              <a:ext cx="558458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8544" y="2583163"/>
              <a:ext cx="5584825" cy="434975"/>
            </a:xfrm>
            <a:custGeom>
              <a:avLst/>
              <a:gdLst/>
              <a:ahLst/>
              <a:cxnLst/>
              <a:rect l="l" t="t" r="r" b="b"/>
              <a:pathLst>
                <a:path w="5584825" h="434975">
                  <a:moveTo>
                    <a:pt x="5584580" y="0"/>
                  </a:moveTo>
                  <a:lnTo>
                    <a:pt x="0" y="0"/>
                  </a:lnTo>
                  <a:lnTo>
                    <a:pt x="0" y="434839"/>
                  </a:lnTo>
                  <a:lnTo>
                    <a:pt x="5584580" y="434839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43" y="2764744"/>
              <a:ext cx="5584825" cy="202565"/>
            </a:xfrm>
            <a:custGeom>
              <a:avLst/>
              <a:gdLst/>
              <a:ahLst/>
              <a:cxnLst/>
              <a:rect l="l" t="t" r="r" b="b"/>
              <a:pathLst>
                <a:path w="5584825" h="202564">
                  <a:moveTo>
                    <a:pt x="5584580" y="0"/>
                  </a:moveTo>
                  <a:lnTo>
                    <a:pt x="0" y="0"/>
                  </a:lnTo>
                  <a:lnTo>
                    <a:pt x="0" y="151658"/>
                  </a:lnTo>
                  <a:lnTo>
                    <a:pt x="4008" y="171382"/>
                  </a:lnTo>
                  <a:lnTo>
                    <a:pt x="14922" y="187535"/>
                  </a:lnTo>
                  <a:lnTo>
                    <a:pt x="31075" y="198450"/>
                  </a:lnTo>
                  <a:lnTo>
                    <a:pt x="50800" y="202458"/>
                  </a:lnTo>
                  <a:lnTo>
                    <a:pt x="5533779" y="202458"/>
                  </a:lnTo>
                  <a:lnTo>
                    <a:pt x="5553504" y="198450"/>
                  </a:lnTo>
                  <a:lnTo>
                    <a:pt x="5569657" y="187535"/>
                  </a:lnTo>
                  <a:lnTo>
                    <a:pt x="5580571" y="171382"/>
                  </a:lnTo>
                  <a:lnTo>
                    <a:pt x="5584580" y="151658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8544" y="2583163"/>
            <a:ext cx="5584825" cy="4349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Times New Roman"/>
              <a:cs typeface="Times New Roman"/>
            </a:endParaRPr>
          </a:p>
          <a:p>
            <a:pPr marL="409575">
              <a:lnSpc>
                <a:spcPct val="100000"/>
              </a:lnSpc>
            </a:pPr>
            <a:r>
              <a:rPr sz="1100" b="1" dirty="0">
                <a:latin typeface="Arial"/>
                <a:cs typeface="Arial"/>
              </a:rPr>
              <a:t>MCP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eliminates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repeated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integrations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enables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scalable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AI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systems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12" name="object 12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919973" y="12903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919973" y="12903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2E3950-7D40-6F2D-6511-A030485A0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63"/>
            <a:ext cx="5765800" cy="305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46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288" y="671079"/>
            <a:ext cx="5387340" cy="1938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37160">
              <a:lnSpc>
                <a:spcPct val="100000"/>
              </a:lnSpc>
              <a:spcBef>
                <a:spcPts val="90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b="1" dirty="0">
                <a:latin typeface="Arial"/>
                <a:cs typeface="Arial"/>
              </a:rPr>
              <a:t>Summary: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MCP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bridges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gap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between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reasoning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real-</a:t>
            </a:r>
            <a:r>
              <a:rPr sz="1100" dirty="0">
                <a:latin typeface="Arial MT"/>
                <a:cs typeface="Arial MT"/>
              </a:rPr>
              <a:t>world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action.</a:t>
            </a:r>
            <a:endParaRPr sz="1100">
              <a:latin typeface="Arial MT"/>
              <a:cs typeface="Arial MT"/>
            </a:endParaRPr>
          </a:p>
          <a:p>
            <a:pPr marL="187960" indent="-137160">
              <a:lnSpc>
                <a:spcPct val="100000"/>
              </a:lnSpc>
              <a:spcBef>
                <a:spcPts val="1185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b="1" dirty="0">
                <a:latin typeface="Arial"/>
                <a:cs typeface="Arial"/>
              </a:rPr>
              <a:t>Impact: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Enables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dynamic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discovery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seamless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multi-</a:t>
            </a:r>
            <a:r>
              <a:rPr sz="1100" dirty="0">
                <a:latin typeface="Arial MT"/>
                <a:cs typeface="Arial MT"/>
              </a:rPr>
              <a:t>agent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coordination.</a:t>
            </a:r>
            <a:endParaRPr sz="1100">
              <a:latin typeface="Arial MT"/>
              <a:cs typeface="Arial MT"/>
            </a:endParaRPr>
          </a:p>
          <a:p>
            <a:pPr marL="187960" indent="-137160">
              <a:lnSpc>
                <a:spcPct val="100000"/>
              </a:lnSpc>
              <a:spcBef>
                <a:spcPts val="1185"/>
              </a:spcBef>
              <a:buClr>
                <a:srgbClr val="2B7978"/>
              </a:buClr>
              <a:buFont typeface="Georgia"/>
              <a:buChar char="•"/>
              <a:tabLst>
                <a:tab pos="187960" algn="l"/>
              </a:tabLst>
            </a:pPr>
            <a:r>
              <a:rPr sz="1100" b="1" dirty="0">
                <a:latin typeface="Arial"/>
                <a:cs typeface="Arial"/>
              </a:rPr>
              <a:t>Future: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Solves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fragmentation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crisis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development.</a:t>
            </a:r>
            <a:endParaRPr sz="1100">
              <a:latin typeface="Arial MT"/>
              <a:cs typeface="Arial MT"/>
            </a:endParaRPr>
          </a:p>
          <a:p>
            <a:pPr marL="187325" marR="43180" indent="-137160">
              <a:lnSpc>
                <a:spcPct val="102699"/>
              </a:lnSpc>
              <a:spcBef>
                <a:spcPts val="1145"/>
              </a:spcBef>
              <a:buClr>
                <a:srgbClr val="2B7978"/>
              </a:buClr>
              <a:buFont typeface="Georgia"/>
              <a:buChar char="•"/>
              <a:tabLst>
                <a:tab pos="189230" algn="l"/>
              </a:tabLst>
            </a:pPr>
            <a:r>
              <a:rPr sz="1100" b="1" dirty="0">
                <a:latin typeface="Arial"/>
                <a:cs typeface="Arial"/>
              </a:rPr>
              <a:t>Outlook: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MCP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can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become</a:t>
            </a:r>
            <a:r>
              <a:rPr sz="1100" b="1" spc="-35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the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HTTP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of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AI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integrations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—</a:t>
            </a:r>
            <a:r>
              <a:rPr sz="1100" b="1" spc="-35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a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universal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B7978"/>
                </a:solidFill>
                <a:latin typeface="Arial"/>
                <a:cs typeface="Arial"/>
              </a:rPr>
              <a:t>standard 	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for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connecting</a:t>
            </a:r>
            <a:r>
              <a:rPr sz="1100" b="1" spc="-35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AI</a:t>
            </a:r>
            <a:r>
              <a:rPr sz="1100" b="1" spc="-35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systems</a:t>
            </a:r>
            <a:r>
              <a:rPr sz="1100" b="1" spc="-35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to</a:t>
            </a:r>
            <a:r>
              <a:rPr sz="1100" b="1" spc="-40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B7978"/>
                </a:solidFill>
                <a:latin typeface="Arial"/>
                <a:cs typeface="Arial"/>
              </a:rPr>
              <a:t>real-</a:t>
            </a:r>
            <a:r>
              <a:rPr sz="1100" b="1" dirty="0">
                <a:solidFill>
                  <a:srgbClr val="2B7978"/>
                </a:solidFill>
                <a:latin typeface="Arial"/>
                <a:cs typeface="Arial"/>
              </a:rPr>
              <a:t>world</a:t>
            </a:r>
            <a:r>
              <a:rPr sz="1100" b="1" spc="-35" dirty="0">
                <a:solidFill>
                  <a:srgbClr val="2B797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B7978"/>
                </a:solidFill>
                <a:latin typeface="Arial"/>
                <a:cs typeface="Arial"/>
              </a:rPr>
              <a:t>tools.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Arial"/>
              <a:cs typeface="Arial"/>
            </a:endParaRPr>
          </a:p>
          <a:p>
            <a:pPr marR="71755" algn="ctr">
              <a:lnSpc>
                <a:spcPct val="100000"/>
              </a:lnSpc>
            </a:pPr>
            <a:r>
              <a:rPr sz="1400" b="1" dirty="0">
                <a:solidFill>
                  <a:srgbClr val="17252A"/>
                </a:solidFill>
                <a:latin typeface="Arial"/>
                <a:cs typeface="Arial"/>
              </a:rPr>
              <a:t>Thank</a:t>
            </a:r>
            <a:r>
              <a:rPr sz="1400" b="1" spc="125" dirty="0">
                <a:solidFill>
                  <a:srgbClr val="17252A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17252A"/>
                </a:solidFill>
                <a:latin typeface="Arial"/>
                <a:cs typeface="Arial"/>
              </a:rPr>
              <a:t>You!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10966"/>
            <a:ext cx="5760085" cy="129539"/>
            <a:chOff x="0" y="3110966"/>
            <a:chExt cx="5760085" cy="129539"/>
          </a:xfrm>
        </p:grpSpPr>
        <p:sp>
          <p:nvSpPr>
            <p:cNvPr id="5" name="object 5"/>
            <p:cNvSpPr/>
            <p:nvPr/>
          </p:nvSpPr>
          <p:spPr>
            <a:xfrm>
              <a:off x="0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72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9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10966"/>
              <a:ext cx="1920239" cy="129539"/>
            </a:xfrm>
            <a:custGeom>
              <a:avLst/>
              <a:gdLst/>
              <a:ahLst/>
              <a:cxnLst/>
              <a:rect l="l" t="t" r="r" b="b"/>
              <a:pathLst>
                <a:path w="1920239" h="129539">
                  <a:moveTo>
                    <a:pt x="1919973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919973" y="12903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B7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15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788</Words>
  <Application>Microsoft Office PowerPoint</Application>
  <PresentationFormat>Custom</PresentationFormat>
  <Paragraphs>160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MT</vt:lpstr>
      <vt:lpstr>Calibri</vt:lpstr>
      <vt:lpstr>Georgia</vt:lpstr>
      <vt:lpstr>Lucida Sans Unicode</vt:lpstr>
      <vt:lpstr>Times New Roman</vt:lpstr>
      <vt:lpstr>Office Theme</vt:lpstr>
      <vt:lpstr>Techno College Of Engineering Agartala</vt:lpstr>
      <vt:lpstr>Introduction to MCP</vt:lpstr>
      <vt:lpstr>MCP Architecture</vt:lpstr>
      <vt:lpstr>How MCP Communicates (JSON-RPC)</vt:lpstr>
      <vt:lpstr>How MCP Works</vt:lpstr>
      <vt:lpstr>Paper 1: ReAct (Reason + Act)</vt:lpstr>
      <vt:lpstr>Paper 2: ToolLLM</vt:lpstr>
      <vt:lpstr>Paper 3: AutoGen</vt:lpstr>
      <vt:lpstr>Paper 4: MemGPT (2023)</vt:lpstr>
      <vt:lpstr>Paper 5: Gorilla (2023)</vt:lpstr>
      <vt:lpstr>Paper 6: AgentBench (2024)</vt:lpstr>
      <vt:lpstr>Paper 7: HuggingGPT (2023)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Rahul Deb</dc:creator>
  <cp:lastModifiedBy>Rahul Deb</cp:lastModifiedBy>
  <cp:revision>1</cp:revision>
  <dcterms:created xsi:type="dcterms:W3CDTF">2026-04-20T06:33:23Z</dcterms:created>
  <dcterms:modified xsi:type="dcterms:W3CDTF">2026-04-20T06:40:17Z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2026-04-16T00:00:00Z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2026-04-20T00:00:00Z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